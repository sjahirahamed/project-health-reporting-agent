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2743200" cy="457200"/>
          </a:xfrm>
          <a:prstGeom prst="rect">
            <a:avLst/>
          </a:prstGeom>
          <a:noFill/>
        </p:spPr>
        <p:txBody>
          <a:bodyPr wrap="square">
            <a:spAutoFit/>
          </a:bodyPr>
          <a:lstStyle/>
          <a:p>
            <a:pPr algn="l"/>
            <a:r>
              <a:rPr sz="1300" b="1" i="0">
                <a:solidFill>
                  <a:srgbClr val="008BFF"/>
                </a:solidFill>
              </a:rPr>
              <a:t>ZYCUS</a:t>
            </a:r>
          </a:p>
        </p:txBody>
      </p:sp>
      <p:sp>
        <p:nvSpPr>
          <p:cNvPr id="4" name="TextBox 3"/>
          <p:cNvSpPr txBox="1"/>
          <p:nvPr/>
        </p:nvSpPr>
        <p:spPr>
          <a:xfrm>
            <a:off x="1097280" y="1645920"/>
            <a:ext cx="10058400" cy="1645920"/>
          </a:xfrm>
          <a:prstGeom prst="rect">
            <a:avLst/>
          </a:prstGeom>
          <a:noFill/>
        </p:spPr>
        <p:txBody>
          <a:bodyPr wrap="square">
            <a:spAutoFit/>
          </a:bodyPr>
          <a:lstStyle/>
          <a:p>
            <a:pPr algn="ctr"/>
            <a:r>
              <a:rPr sz="4400" b="1" i="0">
                <a:solidFill>
                  <a:srgbClr val="FFFFFF"/>
                </a:solidFill>
              </a:rPr>
              <a:t>Project Portfolio
Health Report</a:t>
            </a:r>
          </a:p>
        </p:txBody>
      </p:sp>
      <p:sp>
        <p:nvSpPr>
          <p:cNvPr id="5" name="TextBox 4"/>
          <p:cNvSpPr txBox="1"/>
          <p:nvPr/>
        </p:nvSpPr>
        <p:spPr>
          <a:xfrm>
            <a:off x="1097280" y="3383280"/>
            <a:ext cx="10058400" cy="731520"/>
          </a:xfrm>
          <a:prstGeom prst="rect">
            <a:avLst/>
          </a:prstGeom>
          <a:noFill/>
        </p:spPr>
        <p:txBody>
          <a:bodyPr wrap="square">
            <a:spAutoFit/>
          </a:bodyPr>
          <a:lstStyle/>
          <a:p>
            <a:pPr algn="ctr"/>
            <a:r>
              <a:rPr sz="1600" b="0" i="1">
                <a:solidFill>
                  <a:srgbClr val="8E99AB"/>
                </a:solidFill>
              </a:rPr>
              <a:t>Portfolio at Critical Red: Significant Delays and Execution Shortfalls Jeopardize Key S2P Implementations.</a:t>
            </a:r>
          </a:p>
        </p:txBody>
      </p:sp>
      <p:sp>
        <p:nvSpPr>
          <p:cNvPr id="6" name="TextBox 5"/>
          <p:cNvSpPr txBox="1"/>
          <p:nvPr/>
        </p:nvSpPr>
        <p:spPr>
          <a:xfrm>
            <a:off x="365760" y="5943600"/>
            <a:ext cx="4572000" cy="457200"/>
          </a:xfrm>
          <a:prstGeom prst="rect">
            <a:avLst/>
          </a:prstGeom>
          <a:noFill/>
        </p:spPr>
        <p:txBody>
          <a:bodyPr wrap="square">
            <a:spAutoFit/>
          </a:bodyPr>
          <a:lstStyle/>
          <a:p>
            <a:pPr algn="l"/>
            <a:r>
              <a:rPr sz="1400" b="0" i="0">
                <a:solidFill>
                  <a:srgbClr val="8E99AB"/>
                </a:solidFill>
              </a:rPr>
              <a:t>July 2026</a:t>
            </a:r>
          </a:p>
        </p:txBody>
      </p:sp>
      <p:sp>
        <p:nvSpPr>
          <p:cNvPr id="7" name="Rectangle 6"/>
          <p:cNvSpPr/>
          <p:nvPr/>
        </p:nvSpPr>
        <p:spPr>
          <a:xfrm>
            <a:off x="9601200" y="5760720"/>
            <a:ext cx="228600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5806440"/>
            <a:ext cx="2286000" cy="548640"/>
          </a:xfrm>
          <a:prstGeom prst="rect">
            <a:avLst/>
          </a:prstGeom>
          <a:noFill/>
        </p:spPr>
        <p:txBody>
          <a:bodyPr wrap="square">
            <a:spAutoFit/>
          </a:bodyPr>
          <a:lstStyle/>
          <a:p>
            <a:pPr algn="ctr"/>
            <a:r>
              <a:rPr sz="1300" b="1" i="0">
                <a:solidFill>
                  <a:srgbClr val="FFFFFF"/>
                </a:solidFill>
              </a:rPr>
              <a:t>Portfolio Status: Red</a:t>
            </a:r>
          </a:p>
        </p:txBody>
      </p:sp>
      <p:sp>
        <p:nvSpPr>
          <p:cNvPr id="9" name="Rectangle 8"/>
          <p:cNvSpPr/>
          <p:nvPr/>
        </p:nvSpPr>
        <p:spPr>
          <a:xfrm>
            <a:off x="0" y="6748272"/>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9144000" cy="548640"/>
          </a:xfrm>
          <a:prstGeom prst="rect">
            <a:avLst/>
          </a:prstGeom>
          <a:noFill/>
        </p:spPr>
        <p:txBody>
          <a:bodyPr wrap="square">
            <a:spAutoFit/>
          </a:bodyPr>
          <a:lstStyle/>
          <a:p>
            <a:pPr algn="l"/>
            <a:r>
              <a:rPr sz="2400" b="1" i="0">
                <a:solidFill>
                  <a:srgbClr val="FFFFFF"/>
                </a:solidFill>
              </a:rPr>
              <a:t>Portfolio Snapshot</a:t>
            </a:r>
          </a:p>
        </p:txBody>
      </p:sp>
      <p:sp>
        <p:nvSpPr>
          <p:cNvPr id="4" name="TextBox 3"/>
          <p:cNvSpPr txBox="1"/>
          <p:nvPr/>
        </p:nvSpPr>
        <p:spPr>
          <a:xfrm>
            <a:off x="9601200" y="228600"/>
            <a:ext cx="2286000" cy="457200"/>
          </a:xfrm>
          <a:prstGeom prst="rect">
            <a:avLst/>
          </a:prstGeom>
          <a:noFill/>
        </p:spPr>
        <p:txBody>
          <a:bodyPr wrap="square">
            <a:spAutoFit/>
          </a:bodyPr>
          <a:lstStyle/>
          <a:p>
            <a:pPr algn="r"/>
            <a:r>
              <a:rPr sz="1300" b="0" i="0">
                <a:solidFill>
                  <a:srgbClr val="8E99AB"/>
                </a:solidFill>
              </a:rPr>
              <a:t>July 2026</a:t>
            </a:r>
          </a:p>
        </p:txBody>
      </p:sp>
      <p:sp>
        <p:nvSpPr>
          <p:cNvPr id="5" name="TextBox 4"/>
          <p:cNvSpPr txBox="1"/>
          <p:nvPr/>
        </p:nvSpPr>
        <p:spPr>
          <a:xfrm>
            <a:off x="365760" y="868680"/>
            <a:ext cx="11430000" cy="914400"/>
          </a:xfrm>
          <a:prstGeom prst="rect">
            <a:avLst/>
          </a:prstGeom>
          <a:noFill/>
        </p:spPr>
        <p:txBody>
          <a:bodyPr wrap="square">
            <a:spAutoFit/>
          </a:bodyPr>
          <a:lstStyle/>
          <a:p>
            <a:pPr algn="l"/>
            <a:r>
              <a:rPr sz="1300" b="0" i="0">
                <a:solidFill>
                  <a:srgbClr val="8E99AB"/>
                </a:solidFill>
              </a:rPr>
              <a:t>The Zycus S2P portfolio is in a critical Red state, with both Titan and UniSan implementations facing severe challenges. Titan is significantly behind schedule with core 'Build' (51 days overdue) and 'Migration' (27 days overdue), hindering overall progress. UniSan, despite being technically ahead of schedule by 2 days, lags substantially with only 38.8% task completion against an expected 61.7% and has 42 critical 'Red' tasks outstanding.</a:t>
            </a:r>
          </a:p>
        </p:txBody>
      </p:sp>
      <p:sp>
        <p:nvSpPr>
          <p:cNvPr id="6" name="Rectangle 5"/>
          <p:cNvSpPr/>
          <p:nvPr/>
        </p:nvSpPr>
        <p:spPr>
          <a:xfrm>
            <a:off x="2505456" y="1920240"/>
            <a:ext cx="3474720" cy="2286000"/>
          </a:xfrm>
          <a:prstGeom prst="rect">
            <a:avLst/>
          </a:prstGeom>
          <a:solidFill>
            <a:srgbClr val="14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05456" y="1920240"/>
            <a:ext cx="3474720" cy="109728"/>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96896" y="2084832"/>
            <a:ext cx="731520" cy="274320"/>
          </a:xfrm>
          <a:prstGeom prst="rect">
            <a:avLst/>
          </a:prstGeom>
          <a:noFill/>
        </p:spPr>
        <p:txBody>
          <a:bodyPr wrap="square">
            <a:spAutoFit/>
          </a:bodyPr>
          <a:lstStyle/>
          <a:p>
            <a:pPr algn="l"/>
            <a:r>
              <a:rPr sz="900" b="1" i="0">
                <a:solidFill>
                  <a:srgbClr val="E53E3E"/>
                </a:solidFill>
              </a:rPr>
              <a:t>RED</a:t>
            </a:r>
          </a:p>
        </p:txBody>
      </p:sp>
      <p:sp>
        <p:nvSpPr>
          <p:cNvPr id="9" name="TextBox 8"/>
          <p:cNvSpPr txBox="1"/>
          <p:nvPr/>
        </p:nvSpPr>
        <p:spPr>
          <a:xfrm>
            <a:off x="2642616" y="2377440"/>
            <a:ext cx="3200400" cy="411480"/>
          </a:xfrm>
          <a:prstGeom prst="rect">
            <a:avLst/>
          </a:prstGeom>
          <a:noFill/>
        </p:spPr>
        <p:txBody>
          <a:bodyPr wrap="square">
            <a:spAutoFit/>
          </a:bodyPr>
          <a:lstStyle/>
          <a:p>
            <a:pPr algn="l"/>
            <a:r>
              <a:rPr sz="1200" b="1" i="0">
                <a:solidFill>
                  <a:srgbClr val="FFFFFF"/>
                </a:solidFill>
              </a:rPr>
              <a:t>Zycus - Titan S2P Implementation</a:t>
            </a:r>
          </a:p>
        </p:txBody>
      </p:sp>
      <p:sp>
        <p:nvSpPr>
          <p:cNvPr id="10" name="TextBox 9"/>
          <p:cNvSpPr txBox="1"/>
          <p:nvPr/>
        </p:nvSpPr>
        <p:spPr>
          <a:xfrm>
            <a:off x="2642616" y="2834640"/>
            <a:ext cx="3200400" cy="731520"/>
          </a:xfrm>
          <a:prstGeom prst="rect">
            <a:avLst/>
          </a:prstGeom>
          <a:noFill/>
        </p:spPr>
        <p:txBody>
          <a:bodyPr wrap="square">
            <a:spAutoFit/>
          </a:bodyPr>
          <a:lstStyle/>
          <a:p>
            <a:pPr algn="l"/>
            <a:r>
              <a:rPr sz="1000" b="0" i="0">
                <a:solidFill>
                  <a:srgbClr val="8E99AB"/>
                </a:solidFill>
              </a:rPr>
              <a:t>Critical Red state primarily due to 51-day delay on 'Build' and 27-day delay on 'Migration' milestones, compounded by...</a:t>
            </a:r>
          </a:p>
        </p:txBody>
      </p:sp>
      <p:sp>
        <p:nvSpPr>
          <p:cNvPr id="11" name="TextBox 10"/>
          <p:cNvSpPr txBox="1"/>
          <p:nvPr/>
        </p:nvSpPr>
        <p:spPr>
          <a:xfrm>
            <a:off x="2642616" y="3611880"/>
            <a:ext cx="3200400" cy="457200"/>
          </a:xfrm>
          <a:prstGeom prst="rect">
            <a:avLst/>
          </a:prstGeom>
          <a:noFill/>
        </p:spPr>
        <p:txBody>
          <a:bodyPr wrap="square">
            <a:spAutoFit/>
          </a:bodyPr>
          <a:lstStyle/>
          <a:p>
            <a:pPr algn="l"/>
            <a:r>
              <a:rPr sz="900" b="0" i="1">
                <a:solidFill>
                  <a:srgbClr val="008BFF"/>
                </a:solidFill>
              </a:rPr>
              <a:t>&gt;&gt; Immediate re-baselining of the project plan, direct PM intervention to resolve critical...</a:t>
            </a:r>
          </a:p>
        </p:txBody>
      </p:sp>
      <p:sp>
        <p:nvSpPr>
          <p:cNvPr id="12" name="Rectangle 11"/>
          <p:cNvSpPr/>
          <p:nvPr/>
        </p:nvSpPr>
        <p:spPr>
          <a:xfrm>
            <a:off x="6208776" y="1920240"/>
            <a:ext cx="3474720" cy="2286000"/>
          </a:xfrm>
          <a:prstGeom prst="rect">
            <a:avLst/>
          </a:prstGeom>
          <a:solidFill>
            <a:srgbClr val="14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920240"/>
            <a:ext cx="3474720" cy="109728"/>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216" y="2084832"/>
            <a:ext cx="731520" cy="274320"/>
          </a:xfrm>
          <a:prstGeom prst="rect">
            <a:avLst/>
          </a:prstGeom>
          <a:noFill/>
        </p:spPr>
        <p:txBody>
          <a:bodyPr wrap="square">
            <a:spAutoFit/>
          </a:bodyPr>
          <a:lstStyle/>
          <a:p>
            <a:pPr algn="l"/>
            <a:r>
              <a:rPr sz="900" b="1" i="0">
                <a:solidFill>
                  <a:srgbClr val="E53E3E"/>
                </a:solidFill>
              </a:rPr>
              <a:t>RED</a:t>
            </a:r>
          </a:p>
        </p:txBody>
      </p:sp>
      <p:sp>
        <p:nvSpPr>
          <p:cNvPr id="15" name="TextBox 14"/>
          <p:cNvSpPr txBox="1"/>
          <p:nvPr/>
        </p:nvSpPr>
        <p:spPr>
          <a:xfrm>
            <a:off x="6345936" y="2377440"/>
            <a:ext cx="3200400" cy="411480"/>
          </a:xfrm>
          <a:prstGeom prst="rect">
            <a:avLst/>
          </a:prstGeom>
          <a:noFill/>
        </p:spPr>
        <p:txBody>
          <a:bodyPr wrap="square">
            <a:spAutoFit/>
          </a:bodyPr>
          <a:lstStyle/>
          <a:p>
            <a:pPr algn="l"/>
            <a:r>
              <a:rPr sz="1200" b="1" i="0">
                <a:solidFill>
                  <a:srgbClr val="FFFFFF"/>
                </a:solidFill>
              </a:rPr>
              <a:t>Zycus - UniSan S2P Implementation</a:t>
            </a:r>
          </a:p>
        </p:txBody>
      </p:sp>
      <p:sp>
        <p:nvSpPr>
          <p:cNvPr id="16" name="TextBox 15"/>
          <p:cNvSpPr txBox="1"/>
          <p:nvPr/>
        </p:nvSpPr>
        <p:spPr>
          <a:xfrm>
            <a:off x="6345936" y="2834640"/>
            <a:ext cx="3200400" cy="731520"/>
          </a:xfrm>
          <a:prstGeom prst="rect">
            <a:avLst/>
          </a:prstGeom>
          <a:noFill/>
        </p:spPr>
        <p:txBody>
          <a:bodyPr wrap="square">
            <a:spAutoFit/>
          </a:bodyPr>
          <a:lstStyle/>
          <a:p>
            <a:pPr algn="l"/>
            <a:r>
              <a:rPr sz="1000" b="0" i="0">
                <a:solidFill>
                  <a:srgbClr val="8E99AB"/>
                </a:solidFill>
              </a:rPr>
              <a:t>Red status due to a substantial 22.9% deficit in task completion against plan, despite being reported as slightly ahead...</a:t>
            </a:r>
          </a:p>
        </p:txBody>
      </p:sp>
      <p:sp>
        <p:nvSpPr>
          <p:cNvPr id="17" name="TextBox 16"/>
          <p:cNvSpPr txBox="1"/>
          <p:nvPr/>
        </p:nvSpPr>
        <p:spPr>
          <a:xfrm>
            <a:off x="6345936" y="3611880"/>
            <a:ext cx="3200400" cy="457200"/>
          </a:xfrm>
          <a:prstGeom prst="rect">
            <a:avLst/>
          </a:prstGeom>
          <a:noFill/>
        </p:spPr>
        <p:txBody>
          <a:bodyPr wrap="square">
            <a:spAutoFit/>
          </a:bodyPr>
          <a:lstStyle/>
          <a:p>
            <a:pPr algn="l"/>
            <a:r>
              <a:rPr sz="900" b="0" i="1">
                <a:solidFill>
                  <a:srgbClr val="008BFF"/>
                </a:solidFill>
              </a:rPr>
              <a:t>&gt;&gt; Deep dive into 175 'Not Started' and 42 'Red' tasks to identify root causes and blockers,...</a:t>
            </a:r>
          </a:p>
        </p:txBody>
      </p:sp>
      <p:sp>
        <p:nvSpPr>
          <p:cNvPr id="18" name="Rectangle 17"/>
          <p:cNvSpPr/>
          <p:nvPr/>
        </p:nvSpPr>
        <p:spPr>
          <a:xfrm>
            <a:off x="0" y="6748272"/>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9144000" cy="548640"/>
          </a:xfrm>
          <a:prstGeom prst="rect">
            <a:avLst/>
          </a:prstGeom>
          <a:noFill/>
        </p:spPr>
        <p:txBody>
          <a:bodyPr wrap="square">
            <a:spAutoFit/>
          </a:bodyPr>
          <a:lstStyle/>
          <a:p>
            <a:pPr algn="l"/>
            <a:r>
              <a:rPr sz="2400" b="1" i="0">
                <a:solidFill>
                  <a:srgbClr val="FFFFFF"/>
                </a:solidFill>
              </a:rPr>
              <a:t>Trend Analysis</a:t>
            </a:r>
          </a:p>
        </p:txBody>
      </p:sp>
      <p:sp>
        <p:nvSpPr>
          <p:cNvPr id="4" name="Rectangle 3"/>
          <p:cNvSpPr/>
          <p:nvPr/>
        </p:nvSpPr>
        <p:spPr>
          <a:xfrm>
            <a:off x="365760" y="914400"/>
            <a:ext cx="502920" cy="50292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69264"/>
            <a:ext cx="502920" cy="402336"/>
          </a:xfrm>
          <a:prstGeom prst="rect">
            <a:avLst/>
          </a:prstGeom>
          <a:noFill/>
        </p:spPr>
        <p:txBody>
          <a:bodyPr wrap="square">
            <a:spAutoFit/>
          </a:bodyPr>
          <a:lstStyle/>
          <a:p>
            <a:pPr algn="ctr"/>
            <a:r>
              <a:rPr sz="1400" b="1" i="0">
                <a:solidFill>
                  <a:srgbClr val="FFFFFF"/>
                </a:solidFill>
              </a:rPr>
              <a:t>1</a:t>
            </a:r>
          </a:p>
        </p:txBody>
      </p:sp>
      <p:sp>
        <p:nvSpPr>
          <p:cNvPr id="6" name="TextBox 5"/>
          <p:cNvSpPr txBox="1"/>
          <p:nvPr/>
        </p:nvSpPr>
        <p:spPr>
          <a:xfrm>
            <a:off x="1005840" y="914400"/>
            <a:ext cx="10515600" cy="822960"/>
          </a:xfrm>
          <a:prstGeom prst="rect">
            <a:avLst/>
          </a:prstGeom>
          <a:noFill/>
        </p:spPr>
        <p:txBody>
          <a:bodyPr wrap="square">
            <a:spAutoFit/>
          </a:bodyPr>
          <a:lstStyle/>
          <a:p>
            <a:pPr algn="l"/>
            <a:r>
              <a:rPr sz="1300" b="0" i="0">
                <a:solidFill>
                  <a:srgbClr val="FFFFFF"/>
                </a:solidFill>
              </a:rPr>
              <a:t>Both S2P implementation projects are currently rated Red, signaling widespread project health concerns across the portfolio.</a:t>
            </a:r>
          </a:p>
        </p:txBody>
      </p:sp>
      <p:sp>
        <p:nvSpPr>
          <p:cNvPr id="7" name="Rectangle 6"/>
          <p:cNvSpPr/>
          <p:nvPr/>
        </p:nvSpPr>
        <p:spPr>
          <a:xfrm>
            <a:off x="365760" y="1920240"/>
            <a:ext cx="502920" cy="50292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75104"/>
            <a:ext cx="502920" cy="402336"/>
          </a:xfrm>
          <a:prstGeom prst="rect">
            <a:avLst/>
          </a:prstGeom>
          <a:noFill/>
        </p:spPr>
        <p:txBody>
          <a:bodyPr wrap="square">
            <a:spAutoFit/>
          </a:bodyPr>
          <a:lstStyle/>
          <a:p>
            <a:pPr algn="ctr"/>
            <a:r>
              <a:rPr sz="1400" b="1" i="0">
                <a:solidFill>
                  <a:srgbClr val="FFFFFF"/>
                </a:solidFill>
              </a:rPr>
              <a:t>2</a:t>
            </a:r>
          </a:p>
        </p:txBody>
      </p:sp>
      <p:sp>
        <p:nvSpPr>
          <p:cNvPr id="9" name="TextBox 8"/>
          <p:cNvSpPr txBox="1"/>
          <p:nvPr/>
        </p:nvSpPr>
        <p:spPr>
          <a:xfrm>
            <a:off x="1005840" y="1920240"/>
            <a:ext cx="10515600" cy="822960"/>
          </a:xfrm>
          <a:prstGeom prst="rect">
            <a:avLst/>
          </a:prstGeom>
          <a:noFill/>
        </p:spPr>
        <p:txBody>
          <a:bodyPr wrap="square">
            <a:spAutoFit/>
          </a:bodyPr>
          <a:lstStyle/>
          <a:p>
            <a:pPr algn="l"/>
            <a:r>
              <a:rPr sz="1300" b="0" i="0">
                <a:solidFill>
                  <a:srgbClr val="FFFFFF"/>
                </a:solidFill>
              </a:rPr>
              <a:t>Significant completion rate deficits and critical milestone delays are a recurring theme; Titan faces 51-day delays on 'Build', while UniSan shows a substantial 22.9% shortfall in task completion.</a:t>
            </a:r>
          </a:p>
        </p:txBody>
      </p:sp>
      <p:sp>
        <p:nvSpPr>
          <p:cNvPr id="10" name="Rectangle 9"/>
          <p:cNvSpPr/>
          <p:nvPr/>
        </p:nvSpPr>
        <p:spPr>
          <a:xfrm>
            <a:off x="365760" y="2926080"/>
            <a:ext cx="502920" cy="50292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980944"/>
            <a:ext cx="502920" cy="402336"/>
          </a:xfrm>
          <a:prstGeom prst="rect">
            <a:avLst/>
          </a:prstGeom>
          <a:noFill/>
        </p:spPr>
        <p:txBody>
          <a:bodyPr wrap="square">
            <a:spAutoFit/>
          </a:bodyPr>
          <a:lstStyle/>
          <a:p>
            <a:pPr algn="ctr"/>
            <a:r>
              <a:rPr sz="1400" b="1" i="0">
                <a:solidFill>
                  <a:srgbClr val="FFFFFF"/>
                </a:solidFill>
              </a:rPr>
              <a:t>3</a:t>
            </a:r>
          </a:p>
        </p:txBody>
      </p:sp>
      <p:sp>
        <p:nvSpPr>
          <p:cNvPr id="12" name="TextBox 11"/>
          <p:cNvSpPr txBox="1"/>
          <p:nvPr/>
        </p:nvSpPr>
        <p:spPr>
          <a:xfrm>
            <a:off x="1005840" y="2926080"/>
            <a:ext cx="10515600" cy="822960"/>
          </a:xfrm>
          <a:prstGeom prst="rect">
            <a:avLst/>
          </a:prstGeom>
          <a:noFill/>
        </p:spPr>
        <p:txBody>
          <a:bodyPr wrap="square">
            <a:spAutoFit/>
          </a:bodyPr>
          <a:lstStyle/>
          <a:p>
            <a:pPr algn="l"/>
            <a:r>
              <a:rPr sz="1300" b="0" i="0">
                <a:solidFill>
                  <a:srgbClr val="FFFFFF"/>
                </a:solidFill>
              </a:rPr>
              <a:t>Issues with project plan integrity, dependency management, and Project Management engagement are evident, leading to critical path delays and potential decision-making bottlenecks.</a:t>
            </a:r>
          </a:p>
        </p:txBody>
      </p:sp>
      <p:sp>
        <p:nvSpPr>
          <p:cNvPr id="13" name="Rectangle 12"/>
          <p:cNvSpPr/>
          <p:nvPr/>
        </p:nvSpPr>
        <p:spPr>
          <a:xfrm>
            <a:off x="0" y="6748272"/>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9144000" cy="548640"/>
          </a:xfrm>
          <a:prstGeom prst="rect">
            <a:avLst/>
          </a:prstGeom>
          <a:noFill/>
        </p:spPr>
        <p:txBody>
          <a:bodyPr wrap="square">
            <a:spAutoFit/>
          </a:bodyPr>
          <a:lstStyle/>
          <a:p>
            <a:pPr algn="l"/>
            <a:r>
              <a:rPr sz="2400" b="1" i="0">
                <a:solidFill>
                  <a:srgbClr val="FFFFFF"/>
                </a:solidFill>
              </a:rPr>
              <a:t>Emerging Risks</a:t>
            </a:r>
          </a:p>
        </p:txBody>
      </p:sp>
      <p:sp>
        <p:nvSpPr>
          <p:cNvPr id="4" name="Rectangle 3"/>
          <p:cNvSpPr/>
          <p:nvPr/>
        </p:nvSpPr>
        <p:spPr>
          <a:xfrm>
            <a:off x="365760" y="987552"/>
            <a:ext cx="1005840" cy="32004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1005840" cy="274320"/>
          </a:xfrm>
          <a:prstGeom prst="rect">
            <a:avLst/>
          </a:prstGeom>
          <a:noFill/>
        </p:spPr>
        <p:txBody>
          <a:bodyPr wrap="square">
            <a:spAutoFit/>
          </a:bodyPr>
          <a:lstStyle/>
          <a:p>
            <a:pPr algn="ctr"/>
            <a:r>
              <a:rPr sz="900" b="1" i="0">
                <a:solidFill>
                  <a:srgbClr val="FFFFFF"/>
                </a:solidFill>
              </a:rPr>
              <a:t>HIGH</a:t>
            </a:r>
          </a:p>
        </p:txBody>
      </p:sp>
      <p:sp>
        <p:nvSpPr>
          <p:cNvPr id="6" name="TextBox 5"/>
          <p:cNvSpPr txBox="1"/>
          <p:nvPr/>
        </p:nvSpPr>
        <p:spPr>
          <a:xfrm>
            <a:off x="1508760" y="914400"/>
            <a:ext cx="5029200" cy="411480"/>
          </a:xfrm>
          <a:prstGeom prst="rect">
            <a:avLst/>
          </a:prstGeom>
          <a:noFill/>
        </p:spPr>
        <p:txBody>
          <a:bodyPr wrap="square">
            <a:spAutoFit/>
          </a:bodyPr>
          <a:lstStyle/>
          <a:p>
            <a:pPr algn="l"/>
            <a:r>
              <a:rPr sz="1300" b="1" i="0">
                <a:solidFill>
                  <a:srgbClr val="FFFFFF"/>
                </a:solidFill>
              </a:rPr>
              <a:t>Widespread Schedule &amp; Completion Slippage</a:t>
            </a:r>
          </a:p>
        </p:txBody>
      </p:sp>
      <p:sp>
        <p:nvSpPr>
          <p:cNvPr id="7" name="TextBox 6"/>
          <p:cNvSpPr txBox="1"/>
          <p:nvPr/>
        </p:nvSpPr>
        <p:spPr>
          <a:xfrm>
            <a:off x="1508760" y="1325880"/>
            <a:ext cx="10058400" cy="457200"/>
          </a:xfrm>
          <a:prstGeom prst="rect">
            <a:avLst/>
          </a:prstGeom>
          <a:noFill/>
        </p:spPr>
        <p:txBody>
          <a:bodyPr wrap="square">
            <a:spAutoFit/>
          </a:bodyPr>
          <a:lstStyle/>
          <a:p>
            <a:pPr algn="l"/>
            <a:r>
              <a:rPr sz="1100" b="0" i="0">
                <a:solidFill>
                  <a:srgbClr val="8E99AB"/>
                </a:solidFill>
              </a:rPr>
              <a:t>Both projects face critical delays on key milestones or significant deficits in task completion, threatening overall timelines and Go Live commitments.</a:t>
            </a:r>
          </a:p>
        </p:txBody>
      </p:sp>
      <p:sp>
        <p:nvSpPr>
          <p:cNvPr id="8" name="Rectangle 7"/>
          <p:cNvSpPr/>
          <p:nvPr/>
        </p:nvSpPr>
        <p:spPr>
          <a:xfrm>
            <a:off x="365760" y="1993392"/>
            <a:ext cx="1005840" cy="32004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011680"/>
            <a:ext cx="1005840" cy="274320"/>
          </a:xfrm>
          <a:prstGeom prst="rect">
            <a:avLst/>
          </a:prstGeom>
          <a:noFill/>
        </p:spPr>
        <p:txBody>
          <a:bodyPr wrap="square">
            <a:spAutoFit/>
          </a:bodyPr>
          <a:lstStyle/>
          <a:p>
            <a:pPr algn="ctr"/>
            <a:r>
              <a:rPr sz="900" b="1" i="0">
                <a:solidFill>
                  <a:srgbClr val="FFFFFF"/>
                </a:solidFill>
              </a:rPr>
              <a:t>HIGH</a:t>
            </a:r>
          </a:p>
        </p:txBody>
      </p:sp>
      <p:sp>
        <p:nvSpPr>
          <p:cNvPr id="10" name="TextBox 9"/>
          <p:cNvSpPr txBox="1"/>
          <p:nvPr/>
        </p:nvSpPr>
        <p:spPr>
          <a:xfrm>
            <a:off x="1508760" y="1920240"/>
            <a:ext cx="5029200" cy="411480"/>
          </a:xfrm>
          <a:prstGeom prst="rect">
            <a:avLst/>
          </a:prstGeom>
          <a:noFill/>
        </p:spPr>
        <p:txBody>
          <a:bodyPr wrap="square">
            <a:spAutoFit/>
          </a:bodyPr>
          <a:lstStyle/>
          <a:p>
            <a:pPr algn="l"/>
            <a:r>
              <a:rPr sz="1300" b="1" i="0">
                <a:solidFill>
                  <a:srgbClr val="FFFFFF"/>
                </a:solidFill>
              </a:rPr>
              <a:t>Project Management &amp; Leadership Bottlenecks</a:t>
            </a:r>
          </a:p>
        </p:txBody>
      </p:sp>
      <p:sp>
        <p:nvSpPr>
          <p:cNvPr id="11" name="TextBox 10"/>
          <p:cNvSpPr txBox="1"/>
          <p:nvPr/>
        </p:nvSpPr>
        <p:spPr>
          <a:xfrm>
            <a:off x="1508760" y="2331720"/>
            <a:ext cx="10058400" cy="457200"/>
          </a:xfrm>
          <a:prstGeom prst="rect">
            <a:avLst/>
          </a:prstGeom>
          <a:noFill/>
        </p:spPr>
        <p:txBody>
          <a:bodyPr wrap="square">
            <a:spAutoFit/>
          </a:bodyPr>
          <a:lstStyle/>
          <a:p>
            <a:pPr algn="l"/>
            <a:r>
              <a:rPr sz="1100" b="0" i="0">
                <a:solidFill>
                  <a:srgbClr val="8E99AB"/>
                </a:solidFill>
              </a:rPr>
              <a:t>Direct requests for PM engagement and a high number of unaddressed 'Red' tasks suggest potential leadership and facilitation gaps impacting progress.</a:t>
            </a:r>
          </a:p>
        </p:txBody>
      </p:sp>
      <p:sp>
        <p:nvSpPr>
          <p:cNvPr id="12" name="Rectangle 11"/>
          <p:cNvSpPr/>
          <p:nvPr/>
        </p:nvSpPr>
        <p:spPr>
          <a:xfrm>
            <a:off x="365760" y="2999232"/>
            <a:ext cx="1005840" cy="32004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017520"/>
            <a:ext cx="1005840" cy="274320"/>
          </a:xfrm>
          <a:prstGeom prst="rect">
            <a:avLst/>
          </a:prstGeom>
          <a:noFill/>
        </p:spPr>
        <p:txBody>
          <a:bodyPr wrap="square">
            <a:spAutoFit/>
          </a:bodyPr>
          <a:lstStyle/>
          <a:p>
            <a:pPr algn="ctr"/>
            <a:r>
              <a:rPr sz="900" b="1" i="0">
                <a:solidFill>
                  <a:srgbClr val="FFFFFF"/>
                </a:solidFill>
              </a:rPr>
              <a:t>HIGH</a:t>
            </a:r>
          </a:p>
        </p:txBody>
      </p:sp>
      <p:sp>
        <p:nvSpPr>
          <p:cNvPr id="14" name="TextBox 13"/>
          <p:cNvSpPr txBox="1"/>
          <p:nvPr/>
        </p:nvSpPr>
        <p:spPr>
          <a:xfrm>
            <a:off x="1508760" y="2926080"/>
            <a:ext cx="5029200" cy="411480"/>
          </a:xfrm>
          <a:prstGeom prst="rect">
            <a:avLst/>
          </a:prstGeom>
          <a:noFill/>
        </p:spPr>
        <p:txBody>
          <a:bodyPr wrap="square">
            <a:spAutoFit/>
          </a:bodyPr>
          <a:lstStyle/>
          <a:p>
            <a:pPr algn="l"/>
            <a:r>
              <a:rPr sz="1300" b="1" i="0">
                <a:solidFill>
                  <a:srgbClr val="FFFFFF"/>
                </a:solidFill>
              </a:rPr>
              <a:t>Underlying Project Plan &amp; Tracking Flaws</a:t>
            </a:r>
          </a:p>
        </p:txBody>
      </p:sp>
      <p:sp>
        <p:nvSpPr>
          <p:cNvPr id="15" name="TextBox 14"/>
          <p:cNvSpPr txBox="1"/>
          <p:nvPr/>
        </p:nvSpPr>
        <p:spPr>
          <a:xfrm>
            <a:off x="1508760" y="3337560"/>
            <a:ext cx="10058400" cy="457200"/>
          </a:xfrm>
          <a:prstGeom prst="rect">
            <a:avLst/>
          </a:prstGeom>
          <a:noFill/>
        </p:spPr>
        <p:txBody>
          <a:bodyPr wrap="square">
            <a:spAutoFit/>
          </a:bodyPr>
          <a:lstStyle/>
          <a:p>
            <a:pPr algn="l"/>
            <a:r>
              <a:rPr sz="1100" b="0" i="0">
                <a:solidFill>
                  <a:srgbClr val="8E99AB"/>
                </a:solidFill>
              </a:rPr>
              <a:t>Inconsistent milestone reporting (Titan) and a significant gap between 'ahead of schedule' and actual completion (UniSan) indicate foundational planning and tracking issues.</a:t>
            </a:r>
          </a:p>
        </p:txBody>
      </p:sp>
      <p:sp>
        <p:nvSpPr>
          <p:cNvPr id="16" name="Rectangle 15"/>
          <p:cNvSpPr/>
          <p:nvPr/>
        </p:nvSpPr>
        <p:spPr>
          <a:xfrm>
            <a:off x="365760" y="4005072"/>
            <a:ext cx="1005840" cy="32004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4023360"/>
            <a:ext cx="1005840" cy="274320"/>
          </a:xfrm>
          <a:prstGeom prst="rect">
            <a:avLst/>
          </a:prstGeom>
          <a:noFill/>
        </p:spPr>
        <p:txBody>
          <a:bodyPr wrap="square">
            <a:spAutoFit/>
          </a:bodyPr>
          <a:lstStyle/>
          <a:p>
            <a:pPr algn="ctr"/>
            <a:r>
              <a:rPr sz="900" b="1" i="0">
                <a:solidFill>
                  <a:srgbClr val="FFFFFF"/>
                </a:solidFill>
              </a:rPr>
              <a:t>HIGH</a:t>
            </a:r>
          </a:p>
        </p:txBody>
      </p:sp>
      <p:sp>
        <p:nvSpPr>
          <p:cNvPr id="18" name="TextBox 17"/>
          <p:cNvSpPr txBox="1"/>
          <p:nvPr/>
        </p:nvSpPr>
        <p:spPr>
          <a:xfrm>
            <a:off x="1508760" y="3931920"/>
            <a:ext cx="5029200" cy="411480"/>
          </a:xfrm>
          <a:prstGeom prst="rect">
            <a:avLst/>
          </a:prstGeom>
          <a:noFill/>
        </p:spPr>
        <p:txBody>
          <a:bodyPr wrap="square">
            <a:spAutoFit/>
          </a:bodyPr>
          <a:lstStyle/>
          <a:p>
            <a:pPr algn="l"/>
            <a:r>
              <a:rPr sz="1300" b="1" i="0">
                <a:solidFill>
                  <a:srgbClr val="FFFFFF"/>
                </a:solidFill>
              </a:rPr>
              <a:t>Unresolved Critical Dependencies</a:t>
            </a:r>
          </a:p>
        </p:txBody>
      </p:sp>
      <p:sp>
        <p:nvSpPr>
          <p:cNvPr id="19" name="TextBox 18"/>
          <p:cNvSpPr txBox="1"/>
          <p:nvPr/>
        </p:nvSpPr>
        <p:spPr>
          <a:xfrm>
            <a:off x="1508760" y="4343400"/>
            <a:ext cx="10058400" cy="457200"/>
          </a:xfrm>
          <a:prstGeom prst="rect">
            <a:avLst/>
          </a:prstGeom>
          <a:noFill/>
        </p:spPr>
        <p:txBody>
          <a:bodyPr wrap="square">
            <a:spAutoFit/>
          </a:bodyPr>
          <a:lstStyle/>
          <a:p>
            <a:pPr algn="l"/>
            <a:r>
              <a:rPr sz="1100" b="0" i="0">
                <a:solidFill>
                  <a:srgbClr val="8E99AB"/>
                </a:solidFill>
              </a:rPr>
              <a:t>Outstanding JDE mapping and data provisioning continue to block progress on key project phases for Titan, creating downstream impact.</a:t>
            </a:r>
          </a:p>
        </p:txBody>
      </p:sp>
      <p:sp>
        <p:nvSpPr>
          <p:cNvPr id="20" name="Rectangle 19"/>
          <p:cNvSpPr/>
          <p:nvPr/>
        </p:nvSpPr>
        <p:spPr>
          <a:xfrm>
            <a:off x="0" y="6748272"/>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10972800" cy="548640"/>
          </a:xfrm>
          <a:prstGeom prst="rect">
            <a:avLst/>
          </a:prstGeom>
          <a:noFill/>
        </p:spPr>
        <p:txBody>
          <a:bodyPr wrap="square">
            <a:spAutoFit/>
          </a:bodyPr>
          <a:lstStyle/>
          <a:p>
            <a:pPr algn="l"/>
            <a:r>
              <a:rPr sz="2400" b="1" i="0">
                <a:solidFill>
                  <a:srgbClr val="FFFFFF"/>
                </a:solidFill>
              </a:rPr>
              <a:t>Executive Recommendations</a:t>
            </a:r>
          </a:p>
        </p:txBody>
      </p:sp>
      <p:sp>
        <p:nvSpPr>
          <p:cNvPr id="4" name="Rectangle 3"/>
          <p:cNvSpPr/>
          <p:nvPr/>
        </p:nvSpPr>
        <p:spPr>
          <a:xfrm>
            <a:off x="365760" y="914400"/>
            <a:ext cx="502920" cy="50292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69264"/>
            <a:ext cx="502920" cy="402336"/>
          </a:xfrm>
          <a:prstGeom prst="rect">
            <a:avLst/>
          </a:prstGeom>
          <a:noFill/>
        </p:spPr>
        <p:txBody>
          <a:bodyPr wrap="square">
            <a:spAutoFit/>
          </a:bodyPr>
          <a:lstStyle/>
          <a:p>
            <a:pPr algn="ctr"/>
            <a:r>
              <a:rPr sz="1400" b="1" i="0">
                <a:solidFill>
                  <a:srgbClr val="FFFFFF"/>
                </a:solidFill>
              </a:rPr>
              <a:t>1</a:t>
            </a:r>
          </a:p>
        </p:txBody>
      </p:sp>
      <p:sp>
        <p:nvSpPr>
          <p:cNvPr id="6" name="TextBox 5"/>
          <p:cNvSpPr txBox="1"/>
          <p:nvPr/>
        </p:nvSpPr>
        <p:spPr>
          <a:xfrm>
            <a:off x="1005840" y="914400"/>
            <a:ext cx="10789920" cy="822960"/>
          </a:xfrm>
          <a:prstGeom prst="rect">
            <a:avLst/>
          </a:prstGeom>
          <a:noFill/>
        </p:spPr>
        <p:txBody>
          <a:bodyPr wrap="square">
            <a:spAutoFit/>
          </a:bodyPr>
          <a:lstStyle/>
          <a:p>
            <a:pPr algn="l"/>
            <a:r>
              <a:rPr sz="1300" b="0" i="0">
                <a:solidFill>
                  <a:srgbClr val="FFFFFF"/>
                </a:solidFill>
              </a:rPr>
              <a:t>Mandate immediate and comprehensive project plan reviews for both Titan and UniSan, focusing on logical dependencies, realistic scheduling, and re-baselining where necessary to ensure plan integrity.</a:t>
            </a:r>
          </a:p>
        </p:txBody>
      </p:sp>
      <p:sp>
        <p:nvSpPr>
          <p:cNvPr id="7" name="Rectangle 6"/>
          <p:cNvSpPr/>
          <p:nvPr/>
        </p:nvSpPr>
        <p:spPr>
          <a:xfrm>
            <a:off x="365760" y="1920240"/>
            <a:ext cx="502920"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75104"/>
            <a:ext cx="502920" cy="402336"/>
          </a:xfrm>
          <a:prstGeom prst="rect">
            <a:avLst/>
          </a:prstGeom>
          <a:noFill/>
        </p:spPr>
        <p:txBody>
          <a:bodyPr wrap="square">
            <a:spAutoFit/>
          </a:bodyPr>
          <a:lstStyle/>
          <a:p>
            <a:pPr algn="ctr"/>
            <a:r>
              <a:rPr sz="1400" b="1" i="0">
                <a:solidFill>
                  <a:srgbClr val="FFFFFF"/>
                </a:solidFill>
              </a:rPr>
              <a:t>2</a:t>
            </a:r>
          </a:p>
        </p:txBody>
      </p:sp>
      <p:sp>
        <p:nvSpPr>
          <p:cNvPr id="9" name="TextBox 8"/>
          <p:cNvSpPr txBox="1"/>
          <p:nvPr/>
        </p:nvSpPr>
        <p:spPr>
          <a:xfrm>
            <a:off x="1005840" y="1920240"/>
            <a:ext cx="10789920" cy="822960"/>
          </a:xfrm>
          <a:prstGeom prst="rect">
            <a:avLst/>
          </a:prstGeom>
          <a:noFill/>
        </p:spPr>
        <p:txBody>
          <a:bodyPr wrap="square">
            <a:spAutoFit/>
          </a:bodyPr>
          <a:lstStyle/>
          <a:p>
            <a:pPr algn="l"/>
            <a:r>
              <a:rPr sz="1300" b="0" i="0">
                <a:solidFill>
                  <a:srgbClr val="FFFFFF"/>
                </a:solidFill>
              </a:rPr>
              <a:t>Require the respective Project Managers to submit detailed recovery plans for all 'Red' and significantly delayed tasks/milestones within 48 hours, with clear ownership and committed dates.</a:t>
            </a:r>
          </a:p>
        </p:txBody>
      </p:sp>
      <p:sp>
        <p:nvSpPr>
          <p:cNvPr id="10" name="Rectangle 9"/>
          <p:cNvSpPr/>
          <p:nvPr/>
        </p:nvSpPr>
        <p:spPr>
          <a:xfrm>
            <a:off x="365760" y="2926080"/>
            <a:ext cx="502920" cy="502920"/>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980944"/>
            <a:ext cx="502920" cy="402336"/>
          </a:xfrm>
          <a:prstGeom prst="rect">
            <a:avLst/>
          </a:prstGeom>
          <a:noFill/>
        </p:spPr>
        <p:txBody>
          <a:bodyPr wrap="square">
            <a:spAutoFit/>
          </a:bodyPr>
          <a:lstStyle/>
          <a:p>
            <a:pPr algn="ctr"/>
            <a:r>
              <a:rPr sz="1400" b="1" i="0">
                <a:solidFill>
                  <a:srgbClr val="FFFFFF"/>
                </a:solidFill>
              </a:rPr>
              <a:t>3</a:t>
            </a:r>
          </a:p>
        </p:txBody>
      </p:sp>
      <p:sp>
        <p:nvSpPr>
          <p:cNvPr id="12" name="TextBox 11"/>
          <p:cNvSpPr txBox="1"/>
          <p:nvPr/>
        </p:nvSpPr>
        <p:spPr>
          <a:xfrm>
            <a:off x="1005840" y="2926080"/>
            <a:ext cx="10789920" cy="822960"/>
          </a:xfrm>
          <a:prstGeom prst="rect">
            <a:avLst/>
          </a:prstGeom>
          <a:noFill/>
        </p:spPr>
        <p:txBody>
          <a:bodyPr wrap="square">
            <a:spAutoFit/>
          </a:bodyPr>
          <a:lstStyle/>
          <a:p>
            <a:pPr algn="l"/>
            <a:r>
              <a:rPr sz="1300" b="0" i="0">
                <a:solidFill>
                  <a:srgbClr val="FFFFFF"/>
                </a:solidFill>
              </a:rPr>
              <a:t>Address the identified Project Management engagement and leadership gaps, particularly for Titan, ensuring critical path issues are resolved without delay and accountability is clear.</a:t>
            </a:r>
          </a:p>
        </p:txBody>
      </p:sp>
      <p:sp>
        <p:nvSpPr>
          <p:cNvPr id="13" name="Rectangle 12"/>
          <p:cNvSpPr/>
          <p:nvPr/>
        </p:nvSpPr>
        <p:spPr>
          <a:xfrm>
            <a:off x="365760" y="3931920"/>
            <a:ext cx="502920" cy="5029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986784"/>
            <a:ext cx="502920" cy="402336"/>
          </a:xfrm>
          <a:prstGeom prst="rect">
            <a:avLst/>
          </a:prstGeom>
          <a:noFill/>
        </p:spPr>
        <p:txBody>
          <a:bodyPr wrap="square">
            <a:spAutoFit/>
          </a:bodyPr>
          <a:lstStyle/>
          <a:p>
            <a:pPr algn="ctr"/>
            <a:r>
              <a:rPr sz="1400" b="1" i="0">
                <a:solidFill>
                  <a:srgbClr val="FFFFFF"/>
                </a:solidFill>
              </a:rPr>
              <a:t>4</a:t>
            </a:r>
          </a:p>
        </p:txBody>
      </p:sp>
      <p:sp>
        <p:nvSpPr>
          <p:cNvPr id="15" name="TextBox 14"/>
          <p:cNvSpPr txBox="1"/>
          <p:nvPr/>
        </p:nvSpPr>
        <p:spPr>
          <a:xfrm>
            <a:off x="1005840" y="3931920"/>
            <a:ext cx="10789920" cy="822960"/>
          </a:xfrm>
          <a:prstGeom prst="rect">
            <a:avLst/>
          </a:prstGeom>
          <a:noFill/>
        </p:spPr>
        <p:txBody>
          <a:bodyPr wrap="square">
            <a:spAutoFit/>
          </a:bodyPr>
          <a:lstStyle/>
          <a:p>
            <a:pPr algn="l"/>
            <a:r>
              <a:rPr sz="1300" b="0" i="0">
                <a:solidFill>
                  <a:srgbClr val="FFFFFF"/>
                </a:solidFill>
              </a:rPr>
              <a:t>Establish a weekly portfolio review cadence with dedicated focus on resolving cross-project blockers and ensuring consistent reporting of project health metrics.</a:t>
            </a:r>
          </a:p>
        </p:txBody>
      </p:sp>
      <p:sp>
        <p:nvSpPr>
          <p:cNvPr id="16" name="Rectangle 15"/>
          <p:cNvSpPr/>
          <p:nvPr/>
        </p:nvSpPr>
        <p:spPr>
          <a:xfrm>
            <a:off x="0" y="6748272"/>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0"/>
            <a:ext cx="9144000" cy="548640"/>
          </a:xfrm>
          <a:prstGeom prst="rect">
            <a:avLst/>
          </a:prstGeom>
          <a:noFill/>
        </p:spPr>
        <p:txBody>
          <a:bodyPr wrap="square">
            <a:spAutoFit/>
          </a:bodyPr>
          <a:lstStyle/>
          <a:p>
            <a:pPr algn="l"/>
            <a:r>
              <a:rPr sz="2400" b="1" i="0">
                <a:solidFill>
                  <a:srgbClr val="FFFFFF"/>
                </a:solidFill>
              </a:rPr>
              <a:t>Next Steps</a:t>
            </a:r>
          </a:p>
        </p:txBody>
      </p:sp>
      <p:sp>
        <p:nvSpPr>
          <p:cNvPr id="4" name="TextBox 3"/>
          <p:cNvSpPr txBox="1"/>
          <p:nvPr/>
        </p:nvSpPr>
        <p:spPr>
          <a:xfrm>
            <a:off x="365760" y="914400"/>
            <a:ext cx="6858000" cy="5029200"/>
          </a:xfrm>
          <a:prstGeom prst="rect">
            <a:avLst/>
          </a:prstGeom>
          <a:noFill/>
        </p:spPr>
        <p:txBody>
          <a:bodyPr wrap="square">
            <a:spAutoFit/>
          </a:bodyPr>
          <a:lstStyle/>
          <a:p>
            <a:pPr>
              <a:spcBef>
                <a:spcPts val="400"/>
              </a:spcBef>
            </a:pPr>
            <a:r>
              <a:rPr sz="1400">
                <a:solidFill>
                  <a:srgbClr val="FFFFFF"/>
                </a:solidFill>
              </a:rPr>
              <a:t>▸  Schedule a direct meeting with the Project Managers for Titan and UniSan within 24 hours to review critical path issues and commitment to recovery plans.</a:t>
            </a:r>
          </a:p>
          <a:p>
            <a:pPr>
              <a:spcBef>
                <a:spcPts val="400"/>
              </a:spcBef>
            </a:pPr>
            <a:r>
              <a:rPr sz="1400">
                <a:solidFill>
                  <a:srgbClr val="FFFFFF"/>
                </a:solidFill>
              </a:rPr>
              <a:t>▸  Request an urgent deep-dive session with the Titan project team to clarify milestone inconsistencies (e.g., Go Live vs. Migration/Hypercare status) and re-align the schedule.</a:t>
            </a:r>
          </a:p>
          <a:p>
            <a:pPr>
              <a:spcBef>
                <a:spcPts val="400"/>
              </a:spcBef>
            </a:pPr>
            <a:r>
              <a:rPr sz="1400">
                <a:solidFill>
                  <a:srgbClr val="FFFFFF"/>
                </a:solidFill>
              </a:rPr>
              <a:t>▸  Engage the Delivery Lead to investigate the root causes of UniSan's completion rate deficit and ensure adequate resource allocation to address 'Red' tasks.</a:t>
            </a:r>
          </a:p>
        </p:txBody>
      </p:sp>
      <p:sp>
        <p:nvSpPr>
          <p:cNvPr id="5" name="Rectangle 4"/>
          <p:cNvSpPr/>
          <p:nvPr/>
        </p:nvSpPr>
        <p:spPr>
          <a:xfrm>
            <a:off x="8046720" y="914400"/>
            <a:ext cx="3840480" cy="2011680"/>
          </a:xfrm>
          <a:prstGeom prst="rect">
            <a:avLst/>
          </a:prstGeom>
          <a:solidFill>
            <a:srgbClr val="14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0" y="914400"/>
            <a:ext cx="3840480" cy="109728"/>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051560"/>
            <a:ext cx="3657600" cy="411480"/>
          </a:xfrm>
          <a:prstGeom prst="rect">
            <a:avLst/>
          </a:prstGeom>
          <a:noFill/>
        </p:spPr>
        <p:txBody>
          <a:bodyPr wrap="square">
            <a:spAutoFit/>
          </a:bodyPr>
          <a:lstStyle/>
          <a:p>
            <a:pPr algn="l"/>
            <a:r>
              <a:rPr sz="1100" b="1" i="0">
                <a:solidFill>
                  <a:srgbClr val="8E99AB"/>
                </a:solidFill>
              </a:rPr>
              <a:t>Portfolio Status</a:t>
            </a:r>
          </a:p>
        </p:txBody>
      </p:sp>
      <p:sp>
        <p:nvSpPr>
          <p:cNvPr id="8" name="TextBox 7"/>
          <p:cNvSpPr txBox="1"/>
          <p:nvPr/>
        </p:nvSpPr>
        <p:spPr>
          <a:xfrm>
            <a:off x="8138160" y="1463040"/>
            <a:ext cx="3657600" cy="640080"/>
          </a:xfrm>
          <a:prstGeom prst="rect">
            <a:avLst/>
          </a:prstGeom>
          <a:noFill/>
        </p:spPr>
        <p:txBody>
          <a:bodyPr wrap="square">
            <a:spAutoFit/>
          </a:bodyPr>
          <a:lstStyle/>
          <a:p>
            <a:pPr algn="ctr"/>
            <a:r>
              <a:rPr sz="3200" b="1" i="0">
                <a:solidFill>
                  <a:srgbClr val="E53E3E"/>
                </a:solidFill>
              </a:rPr>
              <a:t>Red</a:t>
            </a:r>
          </a:p>
        </p:txBody>
      </p:sp>
      <p:sp>
        <p:nvSpPr>
          <p:cNvPr id="9" name="TextBox 8"/>
          <p:cNvSpPr txBox="1"/>
          <p:nvPr/>
        </p:nvSpPr>
        <p:spPr>
          <a:xfrm>
            <a:off x="365760" y="6400800"/>
            <a:ext cx="11430000" cy="274320"/>
          </a:xfrm>
          <a:prstGeom prst="rect">
            <a:avLst/>
          </a:prstGeom>
          <a:noFill/>
        </p:spPr>
        <p:txBody>
          <a:bodyPr wrap="square">
            <a:spAutoFit/>
          </a:bodyPr>
          <a:lstStyle/>
          <a:p>
            <a:pPr algn="ctr"/>
            <a:r>
              <a:rPr sz="900" b="0" i="1">
                <a:solidFill>
                  <a:srgbClr val="8E99AB"/>
                </a:solidFill>
              </a:rPr>
              <a:t>CONFIDENTIAL – For executive use only</a:t>
            </a:r>
          </a:p>
        </p:txBody>
      </p:sp>
      <p:sp>
        <p:nvSpPr>
          <p:cNvPr id="10" name="Rectangle 9"/>
          <p:cNvSpPr/>
          <p:nvPr/>
        </p:nvSpPr>
        <p:spPr>
          <a:xfrm>
            <a:off x="0" y="6748272"/>
            <a:ext cx="12188952" cy="109728"/>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