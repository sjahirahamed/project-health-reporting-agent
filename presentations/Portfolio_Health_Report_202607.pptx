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2188952" cy="109728"/>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28600"/>
            <a:ext cx="2743200" cy="457200"/>
          </a:xfrm>
          <a:prstGeom prst="rect">
            <a:avLst/>
          </a:prstGeom>
          <a:noFill/>
        </p:spPr>
        <p:txBody>
          <a:bodyPr wrap="square">
            <a:spAutoFit/>
          </a:bodyPr>
          <a:lstStyle/>
          <a:p>
            <a:pPr algn="l"/>
            <a:r>
              <a:rPr sz="1300" b="1" i="0">
                <a:solidFill>
                  <a:srgbClr val="008BFF"/>
                </a:solidFill>
              </a:rPr>
              <a:t>ZYCUS</a:t>
            </a:r>
          </a:p>
        </p:txBody>
      </p:sp>
      <p:sp>
        <p:nvSpPr>
          <p:cNvPr id="4" name="TextBox 3"/>
          <p:cNvSpPr txBox="1"/>
          <p:nvPr/>
        </p:nvSpPr>
        <p:spPr>
          <a:xfrm>
            <a:off x="1097280" y="1645920"/>
            <a:ext cx="10058400" cy="1645920"/>
          </a:xfrm>
          <a:prstGeom prst="rect">
            <a:avLst/>
          </a:prstGeom>
          <a:noFill/>
        </p:spPr>
        <p:txBody>
          <a:bodyPr wrap="square">
            <a:spAutoFit/>
          </a:bodyPr>
          <a:lstStyle/>
          <a:p>
            <a:pPr algn="ctr"/>
            <a:r>
              <a:rPr sz="4400" b="1" i="0">
                <a:solidFill>
                  <a:srgbClr val="FFFFFF"/>
                </a:solidFill>
              </a:rPr>
              <a:t>Project Portfolio
Health Report</a:t>
            </a:r>
          </a:p>
        </p:txBody>
      </p:sp>
      <p:sp>
        <p:nvSpPr>
          <p:cNvPr id="5" name="TextBox 4"/>
          <p:cNvSpPr txBox="1"/>
          <p:nvPr/>
        </p:nvSpPr>
        <p:spPr>
          <a:xfrm>
            <a:off x="1097280" y="3383280"/>
            <a:ext cx="10058400" cy="731520"/>
          </a:xfrm>
          <a:prstGeom prst="rect">
            <a:avLst/>
          </a:prstGeom>
          <a:noFill/>
        </p:spPr>
        <p:txBody>
          <a:bodyPr wrap="square">
            <a:spAutoFit/>
          </a:bodyPr>
          <a:lstStyle/>
          <a:p>
            <a:pPr algn="ctr"/>
            <a:r>
              <a:rPr sz="1600" b="0" i="1">
                <a:solidFill>
                  <a:srgbClr val="8E99AB"/>
                </a:solidFill>
              </a:rPr>
              <a:t>Critical Delays and Widespread Issues Demand Immediate Intervention Across Key Zycus S2P Implementations.</a:t>
            </a:r>
          </a:p>
        </p:txBody>
      </p:sp>
      <p:sp>
        <p:nvSpPr>
          <p:cNvPr id="6" name="TextBox 5"/>
          <p:cNvSpPr txBox="1"/>
          <p:nvPr/>
        </p:nvSpPr>
        <p:spPr>
          <a:xfrm>
            <a:off x="365760" y="5943600"/>
            <a:ext cx="4572000" cy="457200"/>
          </a:xfrm>
          <a:prstGeom prst="rect">
            <a:avLst/>
          </a:prstGeom>
          <a:noFill/>
        </p:spPr>
        <p:txBody>
          <a:bodyPr wrap="square">
            <a:spAutoFit/>
          </a:bodyPr>
          <a:lstStyle/>
          <a:p>
            <a:pPr algn="l"/>
            <a:r>
              <a:rPr sz="1400" b="0" i="0">
                <a:solidFill>
                  <a:srgbClr val="8E99AB"/>
                </a:solidFill>
              </a:rPr>
              <a:t>July 2026</a:t>
            </a:r>
          </a:p>
        </p:txBody>
      </p:sp>
      <p:sp>
        <p:nvSpPr>
          <p:cNvPr id="7" name="Rectangle 6"/>
          <p:cNvSpPr/>
          <p:nvPr/>
        </p:nvSpPr>
        <p:spPr>
          <a:xfrm>
            <a:off x="9601200" y="5760720"/>
            <a:ext cx="2286000" cy="640080"/>
          </a:xfrm>
          <a:prstGeom prst="rect">
            <a:avLst/>
          </a:prstGeom>
          <a:solidFill>
            <a:srgbClr val="E53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0" y="5806440"/>
            <a:ext cx="2286000" cy="548640"/>
          </a:xfrm>
          <a:prstGeom prst="rect">
            <a:avLst/>
          </a:prstGeom>
          <a:noFill/>
        </p:spPr>
        <p:txBody>
          <a:bodyPr wrap="square">
            <a:spAutoFit/>
          </a:bodyPr>
          <a:lstStyle/>
          <a:p>
            <a:pPr algn="ctr"/>
            <a:r>
              <a:rPr sz="1300" b="1" i="0">
                <a:solidFill>
                  <a:srgbClr val="FFFFFF"/>
                </a:solidFill>
              </a:rPr>
              <a:t>Portfolio Status: Red</a:t>
            </a:r>
          </a:p>
        </p:txBody>
      </p:sp>
      <p:sp>
        <p:nvSpPr>
          <p:cNvPr id="9" name="Rectangle 8"/>
          <p:cNvSpPr/>
          <p:nvPr/>
        </p:nvSpPr>
        <p:spPr>
          <a:xfrm>
            <a:off x="0" y="6748272"/>
            <a:ext cx="12188952" cy="109728"/>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2188952" cy="109728"/>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0"/>
            <a:ext cx="9144000" cy="548640"/>
          </a:xfrm>
          <a:prstGeom prst="rect">
            <a:avLst/>
          </a:prstGeom>
          <a:noFill/>
        </p:spPr>
        <p:txBody>
          <a:bodyPr wrap="square">
            <a:spAutoFit/>
          </a:bodyPr>
          <a:lstStyle/>
          <a:p>
            <a:pPr algn="l"/>
            <a:r>
              <a:rPr sz="2400" b="1" i="0">
                <a:solidFill>
                  <a:srgbClr val="FFFFFF"/>
                </a:solidFill>
              </a:rPr>
              <a:t>Portfolio Snapshot</a:t>
            </a:r>
          </a:p>
        </p:txBody>
      </p:sp>
      <p:sp>
        <p:nvSpPr>
          <p:cNvPr id="4" name="TextBox 3"/>
          <p:cNvSpPr txBox="1"/>
          <p:nvPr/>
        </p:nvSpPr>
        <p:spPr>
          <a:xfrm>
            <a:off x="9601200" y="228600"/>
            <a:ext cx="2286000" cy="457200"/>
          </a:xfrm>
          <a:prstGeom prst="rect">
            <a:avLst/>
          </a:prstGeom>
          <a:noFill/>
        </p:spPr>
        <p:txBody>
          <a:bodyPr wrap="square">
            <a:spAutoFit/>
          </a:bodyPr>
          <a:lstStyle/>
          <a:p>
            <a:pPr algn="r"/>
            <a:r>
              <a:rPr sz="1300" b="0" i="0">
                <a:solidFill>
                  <a:srgbClr val="8E99AB"/>
                </a:solidFill>
              </a:rPr>
              <a:t>July 2026</a:t>
            </a:r>
          </a:p>
        </p:txBody>
      </p:sp>
      <p:sp>
        <p:nvSpPr>
          <p:cNvPr id="5" name="TextBox 4"/>
          <p:cNvSpPr txBox="1"/>
          <p:nvPr/>
        </p:nvSpPr>
        <p:spPr>
          <a:xfrm>
            <a:off x="365760" y="868680"/>
            <a:ext cx="11430000" cy="914400"/>
          </a:xfrm>
          <a:prstGeom prst="rect">
            <a:avLst/>
          </a:prstGeom>
          <a:noFill/>
        </p:spPr>
        <p:txBody>
          <a:bodyPr wrap="square">
            <a:spAutoFit/>
          </a:bodyPr>
          <a:lstStyle/>
          <a:p>
            <a:pPr algn="l"/>
            <a:r>
              <a:rPr sz="1300" b="0" i="0">
                <a:solidFill>
                  <a:srgbClr val="8E99AB"/>
                </a:solidFill>
              </a:rPr>
              <a:t>Both Zycus S2P projects, UniSan and Titan, are currently rated Red for July 2026. The portfolio is grappling with significant schedule slippage on critical milestones, a large volume of tasks flagged for urgent attention (over 100 Red/Yellow tasks combined), and underlying issues in task completion and dependency resolution. Without immediate and aggressive intervention, planned project timelines are at high risk.</a:t>
            </a:r>
          </a:p>
        </p:txBody>
      </p:sp>
      <p:sp>
        <p:nvSpPr>
          <p:cNvPr id="6" name="Rectangle 5"/>
          <p:cNvSpPr/>
          <p:nvPr/>
        </p:nvSpPr>
        <p:spPr>
          <a:xfrm>
            <a:off x="2505456" y="1920240"/>
            <a:ext cx="3474720" cy="228600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05456" y="1920240"/>
            <a:ext cx="3474720" cy="109728"/>
          </a:xfrm>
          <a:prstGeom prst="rect">
            <a:avLst/>
          </a:prstGeom>
          <a:solidFill>
            <a:srgbClr val="E53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96896" y="2084832"/>
            <a:ext cx="731520" cy="274320"/>
          </a:xfrm>
          <a:prstGeom prst="rect">
            <a:avLst/>
          </a:prstGeom>
          <a:noFill/>
        </p:spPr>
        <p:txBody>
          <a:bodyPr wrap="square">
            <a:spAutoFit/>
          </a:bodyPr>
          <a:lstStyle/>
          <a:p>
            <a:pPr algn="l"/>
            <a:r>
              <a:rPr sz="900" b="1" i="0">
                <a:solidFill>
                  <a:srgbClr val="E53E3E"/>
                </a:solidFill>
              </a:rPr>
              <a:t>RED</a:t>
            </a:r>
          </a:p>
        </p:txBody>
      </p:sp>
      <p:sp>
        <p:nvSpPr>
          <p:cNvPr id="9" name="TextBox 8"/>
          <p:cNvSpPr txBox="1"/>
          <p:nvPr/>
        </p:nvSpPr>
        <p:spPr>
          <a:xfrm>
            <a:off x="2642616" y="2377440"/>
            <a:ext cx="3200400" cy="411480"/>
          </a:xfrm>
          <a:prstGeom prst="rect">
            <a:avLst/>
          </a:prstGeom>
          <a:noFill/>
        </p:spPr>
        <p:txBody>
          <a:bodyPr wrap="square">
            <a:spAutoFit/>
          </a:bodyPr>
          <a:lstStyle/>
          <a:p>
            <a:pPr algn="l"/>
            <a:r>
              <a:rPr sz="1200" b="1" i="0">
                <a:solidFill>
                  <a:srgbClr val="FFFFFF"/>
                </a:solidFill>
              </a:rPr>
              <a:t>Zycus - UniSan S2P Implementation</a:t>
            </a:r>
          </a:p>
        </p:txBody>
      </p:sp>
      <p:sp>
        <p:nvSpPr>
          <p:cNvPr id="10" name="TextBox 9"/>
          <p:cNvSpPr txBox="1"/>
          <p:nvPr/>
        </p:nvSpPr>
        <p:spPr>
          <a:xfrm>
            <a:off x="2642616" y="2834640"/>
            <a:ext cx="3200400" cy="731520"/>
          </a:xfrm>
          <a:prstGeom prst="rect">
            <a:avLst/>
          </a:prstGeom>
          <a:noFill/>
        </p:spPr>
        <p:txBody>
          <a:bodyPr wrap="square">
            <a:spAutoFit/>
          </a:bodyPr>
          <a:lstStyle/>
          <a:p>
            <a:pPr algn="l"/>
            <a:r>
              <a:rPr sz="1000" b="0" i="0">
                <a:solidFill>
                  <a:srgbClr val="8E99AB"/>
                </a:solidFill>
              </a:rPr>
              <a:t>The project is critically Red due to a significant 22.9% completion deficit against target and 42 cr</a:t>
            </a:r>
          </a:p>
        </p:txBody>
      </p:sp>
      <p:sp>
        <p:nvSpPr>
          <p:cNvPr id="11" name="TextBox 10"/>
          <p:cNvSpPr txBox="1"/>
          <p:nvPr/>
        </p:nvSpPr>
        <p:spPr>
          <a:xfrm>
            <a:off x="2642616" y="3611880"/>
            <a:ext cx="3200400" cy="457200"/>
          </a:xfrm>
          <a:prstGeom prst="rect">
            <a:avLst/>
          </a:prstGeom>
          <a:noFill/>
        </p:spPr>
        <p:txBody>
          <a:bodyPr wrap="square">
            <a:spAutoFit/>
          </a:bodyPr>
          <a:lstStyle/>
          <a:p>
            <a:pPr algn="l"/>
            <a:r>
              <a:rPr sz="900" b="0" i="1">
                <a:solidFill>
                  <a:srgbClr val="008BFF"/>
                </a:solidFill>
              </a:rPr>
              <a:t>▶ Initiate an immediate deep dive on the 42 Red tasks and the 175 'Not Started' ta</a:t>
            </a:r>
          </a:p>
        </p:txBody>
      </p:sp>
      <p:sp>
        <p:nvSpPr>
          <p:cNvPr id="12" name="Rectangle 11"/>
          <p:cNvSpPr/>
          <p:nvPr/>
        </p:nvSpPr>
        <p:spPr>
          <a:xfrm>
            <a:off x="6208776" y="1920240"/>
            <a:ext cx="3474720" cy="228600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920240"/>
            <a:ext cx="3474720" cy="109728"/>
          </a:xfrm>
          <a:prstGeom prst="rect">
            <a:avLst/>
          </a:prstGeom>
          <a:solidFill>
            <a:srgbClr val="E53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0216" y="2084832"/>
            <a:ext cx="731520" cy="274320"/>
          </a:xfrm>
          <a:prstGeom prst="rect">
            <a:avLst/>
          </a:prstGeom>
          <a:noFill/>
        </p:spPr>
        <p:txBody>
          <a:bodyPr wrap="square">
            <a:spAutoFit/>
          </a:bodyPr>
          <a:lstStyle/>
          <a:p>
            <a:pPr algn="l"/>
            <a:r>
              <a:rPr sz="900" b="1" i="0">
                <a:solidFill>
                  <a:srgbClr val="E53E3E"/>
                </a:solidFill>
              </a:rPr>
              <a:t>RED</a:t>
            </a:r>
          </a:p>
        </p:txBody>
      </p:sp>
      <p:sp>
        <p:nvSpPr>
          <p:cNvPr id="15" name="TextBox 14"/>
          <p:cNvSpPr txBox="1"/>
          <p:nvPr/>
        </p:nvSpPr>
        <p:spPr>
          <a:xfrm>
            <a:off x="6345936" y="2377440"/>
            <a:ext cx="3200400" cy="411480"/>
          </a:xfrm>
          <a:prstGeom prst="rect">
            <a:avLst/>
          </a:prstGeom>
          <a:noFill/>
        </p:spPr>
        <p:txBody>
          <a:bodyPr wrap="square">
            <a:spAutoFit/>
          </a:bodyPr>
          <a:lstStyle/>
          <a:p>
            <a:pPr algn="l"/>
            <a:r>
              <a:rPr sz="1200" b="1" i="0">
                <a:solidFill>
                  <a:srgbClr val="FFFFFF"/>
                </a:solidFill>
              </a:rPr>
              <a:t>Zycus - Titan S2P Implementation</a:t>
            </a:r>
          </a:p>
        </p:txBody>
      </p:sp>
      <p:sp>
        <p:nvSpPr>
          <p:cNvPr id="16" name="TextBox 15"/>
          <p:cNvSpPr txBox="1"/>
          <p:nvPr/>
        </p:nvSpPr>
        <p:spPr>
          <a:xfrm>
            <a:off x="6345936" y="2834640"/>
            <a:ext cx="3200400" cy="731520"/>
          </a:xfrm>
          <a:prstGeom prst="rect">
            <a:avLst/>
          </a:prstGeom>
          <a:noFill/>
        </p:spPr>
        <p:txBody>
          <a:bodyPr wrap="square">
            <a:spAutoFit/>
          </a:bodyPr>
          <a:lstStyle/>
          <a:p>
            <a:pPr algn="l"/>
            <a:r>
              <a:rPr sz="1000" b="0" i="0">
                <a:solidFill>
                  <a:srgbClr val="8E99AB"/>
                </a:solidFill>
              </a:rPr>
              <a:t>This project is in a critical Red state due to significant delays on 'Build' (51 days overdue) and '</a:t>
            </a:r>
          </a:p>
        </p:txBody>
      </p:sp>
      <p:sp>
        <p:nvSpPr>
          <p:cNvPr id="17" name="TextBox 16"/>
          <p:cNvSpPr txBox="1"/>
          <p:nvPr/>
        </p:nvSpPr>
        <p:spPr>
          <a:xfrm>
            <a:off x="6345936" y="3611880"/>
            <a:ext cx="3200400" cy="457200"/>
          </a:xfrm>
          <a:prstGeom prst="rect">
            <a:avLst/>
          </a:prstGeom>
          <a:noFill/>
        </p:spPr>
        <p:txBody>
          <a:bodyPr wrap="square">
            <a:spAutoFit/>
          </a:bodyPr>
          <a:lstStyle/>
          <a:p>
            <a:pPr algn="l"/>
            <a:r>
              <a:rPr sz="900" b="0" i="1">
                <a:solidFill>
                  <a:srgbClr val="008BFF"/>
                </a:solidFill>
              </a:rPr>
              <a:t>▶ Urgently review and re-baseline the project plan for logical consistency, expedi</a:t>
            </a:r>
          </a:p>
        </p:txBody>
      </p:sp>
      <p:sp>
        <p:nvSpPr>
          <p:cNvPr id="18" name="Rectangle 17"/>
          <p:cNvSpPr/>
          <p:nvPr/>
        </p:nvSpPr>
        <p:spPr>
          <a:xfrm>
            <a:off x="0" y="6748272"/>
            <a:ext cx="12188952" cy="109728"/>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2188952" cy="109728"/>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0"/>
            <a:ext cx="9144000" cy="548640"/>
          </a:xfrm>
          <a:prstGeom prst="rect">
            <a:avLst/>
          </a:prstGeom>
          <a:noFill/>
        </p:spPr>
        <p:txBody>
          <a:bodyPr wrap="square">
            <a:spAutoFit/>
          </a:bodyPr>
          <a:lstStyle/>
          <a:p>
            <a:pPr algn="l"/>
            <a:r>
              <a:rPr sz="2400" b="1" i="0">
                <a:solidFill>
                  <a:srgbClr val="FFFFFF"/>
                </a:solidFill>
              </a:rPr>
              <a:t>Trend Analysis</a:t>
            </a:r>
          </a:p>
        </p:txBody>
      </p:sp>
      <p:sp>
        <p:nvSpPr>
          <p:cNvPr id="4" name="Rectangle 3"/>
          <p:cNvSpPr/>
          <p:nvPr/>
        </p:nvSpPr>
        <p:spPr>
          <a:xfrm>
            <a:off x="365760" y="914400"/>
            <a:ext cx="502920" cy="502920"/>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69264"/>
            <a:ext cx="502920" cy="402336"/>
          </a:xfrm>
          <a:prstGeom prst="rect">
            <a:avLst/>
          </a:prstGeom>
          <a:noFill/>
        </p:spPr>
        <p:txBody>
          <a:bodyPr wrap="square">
            <a:spAutoFit/>
          </a:bodyPr>
          <a:lstStyle/>
          <a:p>
            <a:pPr algn="ctr"/>
            <a:r>
              <a:rPr sz="1400" b="1" i="0">
                <a:solidFill>
                  <a:srgbClr val="FFFFFF"/>
                </a:solidFill>
              </a:rPr>
              <a:t>1</a:t>
            </a:r>
          </a:p>
        </p:txBody>
      </p:sp>
      <p:sp>
        <p:nvSpPr>
          <p:cNvPr id="6" name="TextBox 5"/>
          <p:cNvSpPr txBox="1"/>
          <p:nvPr/>
        </p:nvSpPr>
        <p:spPr>
          <a:xfrm>
            <a:off x="1005840" y="914400"/>
            <a:ext cx="10515600" cy="822960"/>
          </a:xfrm>
          <a:prstGeom prst="rect">
            <a:avLst/>
          </a:prstGeom>
          <a:noFill/>
        </p:spPr>
        <p:txBody>
          <a:bodyPr wrap="square">
            <a:spAutoFit/>
          </a:bodyPr>
          <a:lstStyle/>
          <a:p>
            <a:pPr algn="l"/>
            <a:r>
              <a:rPr sz="1300" b="0" i="0">
                <a:solidFill>
                  <a:srgbClr val="FFFFFF"/>
                </a:solidFill>
              </a:rPr>
              <a:t>**Widespread Schedule Risk &amp; Completion Deficits**: Both projects exhibit critical schedule concerns and completion rate issues. UniSan shows a 22.9% completion deficit with 42 tasks flagged Red, while Titan has critical milestones overdue by 51 and 27 days respectively, alongside a 4.3% completion shortfall.</a:t>
            </a:r>
          </a:p>
        </p:txBody>
      </p:sp>
      <p:sp>
        <p:nvSpPr>
          <p:cNvPr id="7" name="Rectangle 6"/>
          <p:cNvSpPr/>
          <p:nvPr/>
        </p:nvSpPr>
        <p:spPr>
          <a:xfrm>
            <a:off x="365760" y="1920240"/>
            <a:ext cx="502920" cy="502920"/>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975104"/>
            <a:ext cx="502920" cy="402336"/>
          </a:xfrm>
          <a:prstGeom prst="rect">
            <a:avLst/>
          </a:prstGeom>
          <a:noFill/>
        </p:spPr>
        <p:txBody>
          <a:bodyPr wrap="square">
            <a:spAutoFit/>
          </a:bodyPr>
          <a:lstStyle/>
          <a:p>
            <a:pPr algn="ctr"/>
            <a:r>
              <a:rPr sz="1400" b="1" i="0">
                <a:solidFill>
                  <a:srgbClr val="FFFFFF"/>
                </a:solidFill>
              </a:rPr>
              <a:t>2</a:t>
            </a:r>
          </a:p>
        </p:txBody>
      </p:sp>
      <p:sp>
        <p:nvSpPr>
          <p:cNvPr id="9" name="TextBox 8"/>
          <p:cNvSpPr txBox="1"/>
          <p:nvPr/>
        </p:nvSpPr>
        <p:spPr>
          <a:xfrm>
            <a:off x="1005840" y="1920240"/>
            <a:ext cx="10515600" cy="822960"/>
          </a:xfrm>
          <a:prstGeom prst="rect">
            <a:avLst/>
          </a:prstGeom>
          <a:noFill/>
        </p:spPr>
        <p:txBody>
          <a:bodyPr wrap="square">
            <a:spAutoFit/>
          </a:bodyPr>
          <a:lstStyle/>
          <a:p>
            <a:pPr algn="l"/>
            <a:r>
              <a:rPr sz="1300" b="0" i="0">
                <a:solidFill>
                  <a:srgbClr val="FFFFFF"/>
                </a:solidFill>
              </a:rPr>
              <a:t>**Blocker Resolution Bottlenecks**: A high volume of tasks are flagged as Red/Yellow across both projects (UniSan: 42 Red, 9 Yellow; Titan: 60 Red, 146 Yellow), and specific critical dependencies (e.g., JDE mapping, OTK data in Titan) remain unresolved, indicating systemic challenges in timely issue escalation and resolution.</a:t>
            </a:r>
          </a:p>
        </p:txBody>
      </p:sp>
      <p:sp>
        <p:nvSpPr>
          <p:cNvPr id="10" name="Rectangle 9"/>
          <p:cNvSpPr/>
          <p:nvPr/>
        </p:nvSpPr>
        <p:spPr>
          <a:xfrm>
            <a:off x="365760" y="2926080"/>
            <a:ext cx="502920" cy="502920"/>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980944"/>
            <a:ext cx="502920" cy="402336"/>
          </a:xfrm>
          <a:prstGeom prst="rect">
            <a:avLst/>
          </a:prstGeom>
          <a:noFill/>
        </p:spPr>
        <p:txBody>
          <a:bodyPr wrap="square">
            <a:spAutoFit/>
          </a:bodyPr>
          <a:lstStyle/>
          <a:p>
            <a:pPr algn="ctr"/>
            <a:r>
              <a:rPr sz="1400" b="1" i="0">
                <a:solidFill>
                  <a:srgbClr val="FFFFFF"/>
                </a:solidFill>
              </a:rPr>
              <a:t>3</a:t>
            </a:r>
          </a:p>
        </p:txBody>
      </p:sp>
      <p:sp>
        <p:nvSpPr>
          <p:cNvPr id="12" name="TextBox 11"/>
          <p:cNvSpPr txBox="1"/>
          <p:nvPr/>
        </p:nvSpPr>
        <p:spPr>
          <a:xfrm>
            <a:off x="1005840" y="2926080"/>
            <a:ext cx="10515600" cy="822960"/>
          </a:xfrm>
          <a:prstGeom prst="rect">
            <a:avLst/>
          </a:prstGeom>
          <a:noFill/>
        </p:spPr>
        <p:txBody>
          <a:bodyPr wrap="square">
            <a:spAutoFit/>
          </a:bodyPr>
          <a:lstStyle/>
          <a:p>
            <a:pPr algn="l"/>
            <a:r>
              <a:rPr sz="1300" b="0" i="0">
                <a:solidFill>
                  <a:srgbClr val="FFFFFF"/>
                </a:solidFill>
              </a:rPr>
              <a:t>**Project Plan Integrity Concerns**: Inconsistent milestone reporting in the Titan project (Go Live complete while preceding Migration and subsequent Hypercare are still ongoing/overdue) highlights a fundamental issue with project plan accuracy and tracking methodology, impacting reliable forecasting and trust.</a:t>
            </a:r>
          </a:p>
        </p:txBody>
      </p:sp>
      <p:sp>
        <p:nvSpPr>
          <p:cNvPr id="13" name="Rectangle 12"/>
          <p:cNvSpPr/>
          <p:nvPr/>
        </p:nvSpPr>
        <p:spPr>
          <a:xfrm>
            <a:off x="365760" y="3931920"/>
            <a:ext cx="502920" cy="502920"/>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986784"/>
            <a:ext cx="502920" cy="402336"/>
          </a:xfrm>
          <a:prstGeom prst="rect">
            <a:avLst/>
          </a:prstGeom>
          <a:noFill/>
        </p:spPr>
        <p:txBody>
          <a:bodyPr wrap="square">
            <a:spAutoFit/>
          </a:bodyPr>
          <a:lstStyle/>
          <a:p>
            <a:pPr algn="ctr"/>
            <a:r>
              <a:rPr sz="1400" b="1" i="0">
                <a:solidFill>
                  <a:srgbClr val="FFFFFF"/>
                </a:solidFill>
              </a:rPr>
              <a:t>4</a:t>
            </a:r>
          </a:p>
        </p:txBody>
      </p:sp>
      <p:sp>
        <p:nvSpPr>
          <p:cNvPr id="15" name="TextBox 14"/>
          <p:cNvSpPr txBox="1"/>
          <p:nvPr/>
        </p:nvSpPr>
        <p:spPr>
          <a:xfrm>
            <a:off x="1005840" y="3931920"/>
            <a:ext cx="10515600" cy="822960"/>
          </a:xfrm>
          <a:prstGeom prst="rect">
            <a:avLst/>
          </a:prstGeom>
          <a:noFill/>
        </p:spPr>
        <p:txBody>
          <a:bodyPr wrap="square">
            <a:spAutoFit/>
          </a:bodyPr>
          <a:lstStyle/>
          <a:p>
            <a:pPr algn="l"/>
            <a:r>
              <a:rPr sz="1300" b="0" i="0">
                <a:solidFill>
                  <a:srgbClr val="FFFFFF"/>
                </a:solidFill>
              </a:rPr>
              <a:t>**Potential Resource/Engagement Gaps**: UniSan has 175 'Not Started' tasks, and Titan shows repeated direct requests to the Project Manager for critical meetings, suggesting potential resource allocation or PM engagement bottlenecks impacting critical path progress.</a:t>
            </a:r>
          </a:p>
        </p:txBody>
      </p:sp>
      <p:sp>
        <p:nvSpPr>
          <p:cNvPr id="16" name="Rectangle 15"/>
          <p:cNvSpPr/>
          <p:nvPr/>
        </p:nvSpPr>
        <p:spPr>
          <a:xfrm>
            <a:off x="0" y="6748272"/>
            <a:ext cx="12188952" cy="109728"/>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2188952" cy="109728"/>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0"/>
            <a:ext cx="9144000" cy="548640"/>
          </a:xfrm>
          <a:prstGeom prst="rect">
            <a:avLst/>
          </a:prstGeom>
          <a:noFill/>
        </p:spPr>
        <p:txBody>
          <a:bodyPr wrap="square">
            <a:spAutoFit/>
          </a:bodyPr>
          <a:lstStyle/>
          <a:p>
            <a:pPr algn="l"/>
            <a:r>
              <a:rPr sz="2400" b="1" i="0">
                <a:solidFill>
                  <a:srgbClr val="FFFFFF"/>
                </a:solidFill>
              </a:rPr>
              <a:t>Emerging Risks</a:t>
            </a:r>
          </a:p>
        </p:txBody>
      </p:sp>
      <p:sp>
        <p:nvSpPr>
          <p:cNvPr id="4" name="Rectangle 3"/>
          <p:cNvSpPr/>
          <p:nvPr/>
        </p:nvSpPr>
        <p:spPr>
          <a:xfrm>
            <a:off x="365760" y="987552"/>
            <a:ext cx="1005840" cy="320040"/>
          </a:xfrm>
          <a:prstGeom prst="rect">
            <a:avLst/>
          </a:prstGeom>
          <a:solidFill>
            <a:srgbClr val="E53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05840"/>
            <a:ext cx="1005840" cy="274320"/>
          </a:xfrm>
          <a:prstGeom prst="rect">
            <a:avLst/>
          </a:prstGeom>
          <a:noFill/>
        </p:spPr>
        <p:txBody>
          <a:bodyPr wrap="square">
            <a:spAutoFit/>
          </a:bodyPr>
          <a:lstStyle/>
          <a:p>
            <a:pPr algn="ctr"/>
            <a:r>
              <a:rPr sz="900" b="1" i="0">
                <a:solidFill>
                  <a:srgbClr val="FFFFFF"/>
                </a:solidFill>
              </a:rPr>
              <a:t>HIGH</a:t>
            </a:r>
          </a:p>
        </p:txBody>
      </p:sp>
      <p:sp>
        <p:nvSpPr>
          <p:cNvPr id="6" name="TextBox 5"/>
          <p:cNvSpPr txBox="1"/>
          <p:nvPr/>
        </p:nvSpPr>
        <p:spPr>
          <a:xfrm>
            <a:off x="1508760" y="914400"/>
            <a:ext cx="5029200" cy="411480"/>
          </a:xfrm>
          <a:prstGeom prst="rect">
            <a:avLst/>
          </a:prstGeom>
          <a:noFill/>
        </p:spPr>
        <p:txBody>
          <a:bodyPr wrap="square">
            <a:spAutoFit/>
          </a:bodyPr>
          <a:lstStyle/>
          <a:p>
            <a:pPr algn="l"/>
            <a:r>
              <a:rPr sz="1300" b="1" i="0">
                <a:solidFill>
                  <a:srgbClr val="FFFFFF"/>
                </a:solidFill>
              </a:rPr>
              <a:t>Project Plan Data Inaccuracy</a:t>
            </a:r>
          </a:p>
        </p:txBody>
      </p:sp>
      <p:sp>
        <p:nvSpPr>
          <p:cNvPr id="7" name="TextBox 6"/>
          <p:cNvSpPr txBox="1"/>
          <p:nvPr/>
        </p:nvSpPr>
        <p:spPr>
          <a:xfrm>
            <a:off x="1508760" y="1325880"/>
            <a:ext cx="10058400" cy="457200"/>
          </a:xfrm>
          <a:prstGeom prst="rect">
            <a:avLst/>
          </a:prstGeom>
          <a:noFill/>
        </p:spPr>
        <p:txBody>
          <a:bodyPr wrap="square">
            <a:spAutoFit/>
          </a:bodyPr>
          <a:lstStyle/>
          <a:p>
            <a:pPr algn="l"/>
            <a:r>
              <a:rPr sz="1100" b="0" i="0">
                <a:solidFill>
                  <a:srgbClr val="8E99AB"/>
                </a:solidFill>
              </a:rPr>
              <a:t>The Titan project's inconsistent milestone reporting suggests fundamental flaws in plan logic and tracking, making current status assessment and future forecasting unreliable for the entire portfolio.</a:t>
            </a:r>
          </a:p>
        </p:txBody>
      </p:sp>
      <p:sp>
        <p:nvSpPr>
          <p:cNvPr id="8" name="Rectangle 7"/>
          <p:cNvSpPr/>
          <p:nvPr/>
        </p:nvSpPr>
        <p:spPr>
          <a:xfrm>
            <a:off x="365760" y="1993392"/>
            <a:ext cx="1005840" cy="320040"/>
          </a:xfrm>
          <a:prstGeom prst="rect">
            <a:avLst/>
          </a:prstGeom>
          <a:solidFill>
            <a:srgbClr val="E53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2011680"/>
            <a:ext cx="1005840" cy="274320"/>
          </a:xfrm>
          <a:prstGeom prst="rect">
            <a:avLst/>
          </a:prstGeom>
          <a:noFill/>
        </p:spPr>
        <p:txBody>
          <a:bodyPr wrap="square">
            <a:spAutoFit/>
          </a:bodyPr>
          <a:lstStyle/>
          <a:p>
            <a:pPr algn="ctr"/>
            <a:r>
              <a:rPr sz="900" b="1" i="0">
                <a:solidFill>
                  <a:srgbClr val="FFFFFF"/>
                </a:solidFill>
              </a:rPr>
              <a:t>HIGH</a:t>
            </a:r>
          </a:p>
        </p:txBody>
      </p:sp>
      <p:sp>
        <p:nvSpPr>
          <p:cNvPr id="10" name="TextBox 9"/>
          <p:cNvSpPr txBox="1"/>
          <p:nvPr/>
        </p:nvSpPr>
        <p:spPr>
          <a:xfrm>
            <a:off x="1508760" y="1920240"/>
            <a:ext cx="5029200" cy="411480"/>
          </a:xfrm>
          <a:prstGeom prst="rect">
            <a:avLst/>
          </a:prstGeom>
          <a:noFill/>
        </p:spPr>
        <p:txBody>
          <a:bodyPr wrap="square">
            <a:spAutoFit/>
          </a:bodyPr>
          <a:lstStyle/>
          <a:p>
            <a:pPr algn="l"/>
            <a:r>
              <a:rPr sz="1300" b="1" i="0">
                <a:solidFill>
                  <a:srgbClr val="FFFFFF"/>
                </a:solidFill>
              </a:rPr>
              <a:t>Persistent &amp; Deep Schedule Slippage</a:t>
            </a:r>
          </a:p>
        </p:txBody>
      </p:sp>
      <p:sp>
        <p:nvSpPr>
          <p:cNvPr id="11" name="TextBox 10"/>
          <p:cNvSpPr txBox="1"/>
          <p:nvPr/>
        </p:nvSpPr>
        <p:spPr>
          <a:xfrm>
            <a:off x="1508760" y="2331720"/>
            <a:ext cx="10058400" cy="457200"/>
          </a:xfrm>
          <a:prstGeom prst="rect">
            <a:avLst/>
          </a:prstGeom>
          <a:noFill/>
        </p:spPr>
        <p:txBody>
          <a:bodyPr wrap="square">
            <a:spAutoFit/>
          </a:bodyPr>
          <a:lstStyle/>
          <a:p>
            <a:pPr algn="l"/>
            <a:r>
              <a:rPr sz="1100" b="0" i="0">
                <a:solidFill>
                  <a:srgbClr val="8E99AB"/>
                </a:solidFill>
              </a:rPr>
              <a:t>Both projects face significant delays (Titan's Build 51 days overdue; UniSan's 42 Red tasks, despite an overall 'ahead' schedule) which will inevitably push back go-live dates if unaddressed.</a:t>
            </a:r>
          </a:p>
        </p:txBody>
      </p:sp>
      <p:sp>
        <p:nvSpPr>
          <p:cNvPr id="12" name="Rectangle 11"/>
          <p:cNvSpPr/>
          <p:nvPr/>
        </p:nvSpPr>
        <p:spPr>
          <a:xfrm>
            <a:off x="365760" y="2999232"/>
            <a:ext cx="1005840" cy="320040"/>
          </a:xfrm>
          <a:prstGeom prst="rect">
            <a:avLst/>
          </a:prstGeom>
          <a:solidFill>
            <a:srgbClr val="E53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3017520"/>
            <a:ext cx="1005840" cy="274320"/>
          </a:xfrm>
          <a:prstGeom prst="rect">
            <a:avLst/>
          </a:prstGeom>
          <a:noFill/>
        </p:spPr>
        <p:txBody>
          <a:bodyPr wrap="square">
            <a:spAutoFit/>
          </a:bodyPr>
          <a:lstStyle/>
          <a:p>
            <a:pPr algn="ctr"/>
            <a:r>
              <a:rPr sz="900" b="1" i="0">
                <a:solidFill>
                  <a:srgbClr val="FFFFFF"/>
                </a:solidFill>
              </a:rPr>
              <a:t>HIGH</a:t>
            </a:r>
          </a:p>
        </p:txBody>
      </p:sp>
      <p:sp>
        <p:nvSpPr>
          <p:cNvPr id="14" name="TextBox 13"/>
          <p:cNvSpPr txBox="1"/>
          <p:nvPr/>
        </p:nvSpPr>
        <p:spPr>
          <a:xfrm>
            <a:off x="1508760" y="2926080"/>
            <a:ext cx="5029200" cy="411480"/>
          </a:xfrm>
          <a:prstGeom prst="rect">
            <a:avLst/>
          </a:prstGeom>
          <a:noFill/>
        </p:spPr>
        <p:txBody>
          <a:bodyPr wrap="square">
            <a:spAutoFit/>
          </a:bodyPr>
          <a:lstStyle/>
          <a:p>
            <a:pPr algn="l"/>
            <a:r>
              <a:rPr sz="1300" b="1" i="0">
                <a:solidFill>
                  <a:srgbClr val="FFFFFF"/>
                </a:solidFill>
              </a:rPr>
              <a:t>Blocker &amp; Dependency Gridlock</a:t>
            </a:r>
          </a:p>
        </p:txBody>
      </p:sp>
      <p:sp>
        <p:nvSpPr>
          <p:cNvPr id="15" name="TextBox 14"/>
          <p:cNvSpPr txBox="1"/>
          <p:nvPr/>
        </p:nvSpPr>
        <p:spPr>
          <a:xfrm>
            <a:off x="1508760" y="3337560"/>
            <a:ext cx="10058400" cy="457200"/>
          </a:xfrm>
          <a:prstGeom prst="rect">
            <a:avLst/>
          </a:prstGeom>
          <a:noFill/>
        </p:spPr>
        <p:txBody>
          <a:bodyPr wrap="square">
            <a:spAutoFit/>
          </a:bodyPr>
          <a:lstStyle/>
          <a:p>
            <a:pPr algn="l"/>
            <a:r>
              <a:rPr sz="1100" b="0" i="0">
                <a:solidFill>
                  <a:srgbClr val="8E99AB"/>
                </a:solidFill>
              </a:rPr>
              <a:t>Outstanding critical dependencies (JDE mapping, OTK data) and a high number of Red-flagged tasks indicate a systemic issue in unblocking progress across the portfolio, creating cumulative delays.</a:t>
            </a:r>
          </a:p>
        </p:txBody>
      </p:sp>
      <p:sp>
        <p:nvSpPr>
          <p:cNvPr id="16" name="Rectangle 15"/>
          <p:cNvSpPr/>
          <p:nvPr/>
        </p:nvSpPr>
        <p:spPr>
          <a:xfrm>
            <a:off x="365760" y="4005072"/>
            <a:ext cx="1005840" cy="320040"/>
          </a:xfrm>
          <a:prstGeom prst="rect">
            <a:avLst/>
          </a:prstGeom>
          <a:solidFill>
            <a:srgbClr val="FF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4023360"/>
            <a:ext cx="1005840" cy="274320"/>
          </a:xfrm>
          <a:prstGeom prst="rect">
            <a:avLst/>
          </a:prstGeom>
          <a:noFill/>
        </p:spPr>
        <p:txBody>
          <a:bodyPr wrap="square">
            <a:spAutoFit/>
          </a:bodyPr>
          <a:lstStyle/>
          <a:p>
            <a:pPr algn="ctr"/>
            <a:r>
              <a:rPr sz="900" b="1" i="0">
                <a:solidFill>
                  <a:srgbClr val="FFFFFF"/>
                </a:solidFill>
              </a:rPr>
              <a:t>MEDIUM</a:t>
            </a:r>
          </a:p>
        </p:txBody>
      </p:sp>
      <p:sp>
        <p:nvSpPr>
          <p:cNvPr id="18" name="TextBox 17"/>
          <p:cNvSpPr txBox="1"/>
          <p:nvPr/>
        </p:nvSpPr>
        <p:spPr>
          <a:xfrm>
            <a:off x="1508760" y="3931920"/>
            <a:ext cx="5029200" cy="411480"/>
          </a:xfrm>
          <a:prstGeom prst="rect">
            <a:avLst/>
          </a:prstGeom>
          <a:noFill/>
        </p:spPr>
        <p:txBody>
          <a:bodyPr wrap="square">
            <a:spAutoFit/>
          </a:bodyPr>
          <a:lstStyle/>
          <a:p>
            <a:pPr algn="l"/>
            <a:r>
              <a:rPr sz="1300" b="1" i="0">
                <a:solidFill>
                  <a:srgbClr val="FFFFFF"/>
                </a:solidFill>
              </a:rPr>
              <a:t>Project Management Engagement Bottleneck</a:t>
            </a:r>
          </a:p>
        </p:txBody>
      </p:sp>
      <p:sp>
        <p:nvSpPr>
          <p:cNvPr id="19" name="TextBox 18"/>
          <p:cNvSpPr txBox="1"/>
          <p:nvPr/>
        </p:nvSpPr>
        <p:spPr>
          <a:xfrm>
            <a:off x="1508760" y="4343400"/>
            <a:ext cx="10058400" cy="457200"/>
          </a:xfrm>
          <a:prstGeom prst="rect">
            <a:avLst/>
          </a:prstGeom>
          <a:noFill/>
        </p:spPr>
        <p:txBody>
          <a:bodyPr wrap="square">
            <a:spAutoFit/>
          </a:bodyPr>
          <a:lstStyle/>
          <a:p>
            <a:pPr algn="l"/>
            <a:r>
              <a:rPr sz="1100" b="0" i="0">
                <a:solidFill>
                  <a:srgbClr val="8E99AB"/>
                </a:solidFill>
              </a:rPr>
              <a:t>Repeated direct requests to the Project Manager for critical meetings on the Titan project suggest a leadership engagement bottleneck, hindering timely decision-making and critical path resolution.</a:t>
            </a:r>
          </a:p>
        </p:txBody>
      </p:sp>
      <p:sp>
        <p:nvSpPr>
          <p:cNvPr id="20" name="Rectangle 19"/>
          <p:cNvSpPr/>
          <p:nvPr/>
        </p:nvSpPr>
        <p:spPr>
          <a:xfrm>
            <a:off x="0" y="6748272"/>
            <a:ext cx="12188952" cy="109728"/>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2188952" cy="109728"/>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0"/>
            <a:ext cx="10972800" cy="548640"/>
          </a:xfrm>
          <a:prstGeom prst="rect">
            <a:avLst/>
          </a:prstGeom>
          <a:noFill/>
        </p:spPr>
        <p:txBody>
          <a:bodyPr wrap="square">
            <a:spAutoFit/>
          </a:bodyPr>
          <a:lstStyle/>
          <a:p>
            <a:pPr algn="l"/>
            <a:r>
              <a:rPr sz="2400" b="1" i="0">
                <a:solidFill>
                  <a:srgbClr val="FFFFFF"/>
                </a:solidFill>
              </a:rPr>
              <a:t>Executive Recommendations</a:t>
            </a:r>
          </a:p>
        </p:txBody>
      </p:sp>
      <p:sp>
        <p:nvSpPr>
          <p:cNvPr id="4" name="Rectangle 3"/>
          <p:cNvSpPr/>
          <p:nvPr/>
        </p:nvSpPr>
        <p:spPr>
          <a:xfrm>
            <a:off x="365760" y="914400"/>
            <a:ext cx="502920" cy="502920"/>
          </a:xfrm>
          <a:prstGeom prst="rect">
            <a:avLst/>
          </a:prstGeom>
          <a:solidFill>
            <a:srgbClr val="E53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69264"/>
            <a:ext cx="502920" cy="402336"/>
          </a:xfrm>
          <a:prstGeom prst="rect">
            <a:avLst/>
          </a:prstGeom>
          <a:noFill/>
        </p:spPr>
        <p:txBody>
          <a:bodyPr wrap="square">
            <a:spAutoFit/>
          </a:bodyPr>
          <a:lstStyle/>
          <a:p>
            <a:pPr algn="ctr"/>
            <a:r>
              <a:rPr sz="1400" b="1" i="0">
                <a:solidFill>
                  <a:srgbClr val="FFFFFF"/>
                </a:solidFill>
              </a:rPr>
              <a:t>1</a:t>
            </a:r>
          </a:p>
        </p:txBody>
      </p:sp>
      <p:sp>
        <p:nvSpPr>
          <p:cNvPr id="6" name="TextBox 5"/>
          <p:cNvSpPr txBox="1"/>
          <p:nvPr/>
        </p:nvSpPr>
        <p:spPr>
          <a:xfrm>
            <a:off x="1005840" y="914400"/>
            <a:ext cx="10789920" cy="822960"/>
          </a:xfrm>
          <a:prstGeom prst="rect">
            <a:avLst/>
          </a:prstGeom>
          <a:noFill/>
        </p:spPr>
        <p:txBody>
          <a:bodyPr wrap="square">
            <a:spAutoFit/>
          </a:bodyPr>
          <a:lstStyle/>
          <a:p>
            <a:pPr algn="l"/>
            <a:r>
              <a:rPr sz="1300" b="0" i="0">
                <a:solidFill>
                  <a:srgbClr val="FFFFFF"/>
                </a:solidFill>
              </a:rPr>
              <a:t>**Mandate a Portfolio-Wide Project Plan &amp; Dependency Audit**: Initiate an urgent, independent review of both project plans to ensure logical consistency, realistic scheduling, and clear dependency mapping, specifically addressing the inconsistencies observed in Titan.</a:t>
            </a:r>
          </a:p>
        </p:txBody>
      </p:sp>
      <p:sp>
        <p:nvSpPr>
          <p:cNvPr id="7" name="Rectangle 6"/>
          <p:cNvSpPr/>
          <p:nvPr/>
        </p:nvSpPr>
        <p:spPr>
          <a:xfrm>
            <a:off x="365760" y="1920240"/>
            <a:ext cx="502920" cy="502920"/>
          </a:xfrm>
          <a:prstGeom prst="rect">
            <a:avLst/>
          </a:prstGeom>
          <a:solidFill>
            <a:srgbClr val="FF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975104"/>
            <a:ext cx="502920" cy="402336"/>
          </a:xfrm>
          <a:prstGeom prst="rect">
            <a:avLst/>
          </a:prstGeom>
          <a:noFill/>
        </p:spPr>
        <p:txBody>
          <a:bodyPr wrap="square">
            <a:spAutoFit/>
          </a:bodyPr>
          <a:lstStyle/>
          <a:p>
            <a:pPr algn="ctr"/>
            <a:r>
              <a:rPr sz="1400" b="1" i="0">
                <a:solidFill>
                  <a:srgbClr val="FFFFFF"/>
                </a:solidFill>
              </a:rPr>
              <a:t>2</a:t>
            </a:r>
          </a:p>
        </p:txBody>
      </p:sp>
      <p:sp>
        <p:nvSpPr>
          <p:cNvPr id="9" name="TextBox 8"/>
          <p:cNvSpPr txBox="1"/>
          <p:nvPr/>
        </p:nvSpPr>
        <p:spPr>
          <a:xfrm>
            <a:off x="1005840" y="1920240"/>
            <a:ext cx="10789920" cy="822960"/>
          </a:xfrm>
          <a:prstGeom prst="rect">
            <a:avLst/>
          </a:prstGeom>
          <a:noFill/>
        </p:spPr>
        <p:txBody>
          <a:bodyPr wrap="square">
            <a:spAutoFit/>
          </a:bodyPr>
          <a:lstStyle/>
          <a:p>
            <a:pPr algn="l"/>
            <a:r>
              <a:rPr sz="1300" b="0" i="0">
                <a:solidFill>
                  <a:srgbClr val="FFFFFF"/>
                </a:solidFill>
              </a:rPr>
              <a:t>**Establish a Dedicated Blocker Resolution Task Force**: Deploy a focused team to immediately address the 42 Red tasks in UniSan and the critical JDE/OTK blockers in Titan, ensuring clear ownership, rapid escalation, and timely resolution to unblock progress.</a:t>
            </a:r>
          </a:p>
        </p:txBody>
      </p:sp>
      <p:sp>
        <p:nvSpPr>
          <p:cNvPr id="10" name="Rectangle 9"/>
          <p:cNvSpPr/>
          <p:nvPr/>
        </p:nvSpPr>
        <p:spPr>
          <a:xfrm>
            <a:off x="365760" y="2926080"/>
            <a:ext cx="502920" cy="502920"/>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980944"/>
            <a:ext cx="502920" cy="402336"/>
          </a:xfrm>
          <a:prstGeom prst="rect">
            <a:avLst/>
          </a:prstGeom>
          <a:noFill/>
        </p:spPr>
        <p:txBody>
          <a:bodyPr wrap="square">
            <a:spAutoFit/>
          </a:bodyPr>
          <a:lstStyle/>
          <a:p>
            <a:pPr algn="ctr"/>
            <a:r>
              <a:rPr sz="1400" b="1" i="0">
                <a:solidFill>
                  <a:srgbClr val="FFFFFF"/>
                </a:solidFill>
              </a:rPr>
              <a:t>3</a:t>
            </a:r>
          </a:p>
        </p:txBody>
      </p:sp>
      <p:sp>
        <p:nvSpPr>
          <p:cNvPr id="12" name="TextBox 11"/>
          <p:cNvSpPr txBox="1"/>
          <p:nvPr/>
        </p:nvSpPr>
        <p:spPr>
          <a:xfrm>
            <a:off x="1005840" y="2926080"/>
            <a:ext cx="10789920" cy="822960"/>
          </a:xfrm>
          <a:prstGeom prst="rect">
            <a:avLst/>
          </a:prstGeom>
          <a:noFill/>
        </p:spPr>
        <p:txBody>
          <a:bodyPr wrap="square">
            <a:spAutoFit/>
          </a:bodyPr>
          <a:lstStyle/>
          <a:p>
            <a:pPr algn="l"/>
            <a:r>
              <a:rPr sz="1300" b="0" i="0">
                <a:solidFill>
                  <a:srgbClr val="FFFFFF"/>
                </a:solidFill>
              </a:rPr>
              <a:t>**Reinforce Project Leadership Engagement &amp; Accountability**: Ensure Project Managers are proactively addressing critical path items, resolving bottlenecks (e.g., PM meeting requests in Titan), and maintaining transparent, accurate project status reporting aligned with actual work completion.</a:t>
            </a:r>
          </a:p>
        </p:txBody>
      </p:sp>
      <p:sp>
        <p:nvSpPr>
          <p:cNvPr id="13" name="Rectangle 12"/>
          <p:cNvSpPr/>
          <p:nvPr/>
        </p:nvSpPr>
        <p:spPr>
          <a:xfrm>
            <a:off x="365760" y="3931920"/>
            <a:ext cx="502920" cy="502920"/>
          </a:xfrm>
          <a:prstGeom prst="rect">
            <a:avLst/>
          </a:prstGeom>
          <a:solidFill>
            <a:srgbClr val="28A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986784"/>
            <a:ext cx="502920" cy="402336"/>
          </a:xfrm>
          <a:prstGeom prst="rect">
            <a:avLst/>
          </a:prstGeom>
          <a:noFill/>
        </p:spPr>
        <p:txBody>
          <a:bodyPr wrap="square">
            <a:spAutoFit/>
          </a:bodyPr>
          <a:lstStyle/>
          <a:p>
            <a:pPr algn="ctr"/>
            <a:r>
              <a:rPr sz="1400" b="1" i="0">
                <a:solidFill>
                  <a:srgbClr val="FFFFFF"/>
                </a:solidFill>
              </a:rPr>
              <a:t>4</a:t>
            </a:r>
          </a:p>
        </p:txBody>
      </p:sp>
      <p:sp>
        <p:nvSpPr>
          <p:cNvPr id="15" name="TextBox 14"/>
          <p:cNvSpPr txBox="1"/>
          <p:nvPr/>
        </p:nvSpPr>
        <p:spPr>
          <a:xfrm>
            <a:off x="1005840" y="3931920"/>
            <a:ext cx="10789920" cy="822960"/>
          </a:xfrm>
          <a:prstGeom prst="rect">
            <a:avLst/>
          </a:prstGeom>
          <a:noFill/>
        </p:spPr>
        <p:txBody>
          <a:bodyPr wrap="square">
            <a:spAutoFit/>
          </a:bodyPr>
          <a:lstStyle/>
          <a:p>
            <a:pPr algn="l"/>
            <a:r>
              <a:rPr sz="1300" b="0" i="0">
                <a:solidFill>
                  <a:srgbClr val="FFFFFF"/>
                </a:solidFill>
              </a:rPr>
              <a:t>**Develop Aggressive Recovery Plans with Contingencies**: Demand and critically review detailed, aggressive recovery plans for both projects within the next 7 days, outlining specific actions, revised timelines, and required resource allocation to mitigate further schedule slippage and re-establish a path to success.</a:t>
            </a:r>
          </a:p>
        </p:txBody>
      </p:sp>
      <p:sp>
        <p:nvSpPr>
          <p:cNvPr id="16" name="Rectangle 15"/>
          <p:cNvSpPr/>
          <p:nvPr/>
        </p:nvSpPr>
        <p:spPr>
          <a:xfrm>
            <a:off x="0" y="6748272"/>
            <a:ext cx="12188952" cy="109728"/>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2188952" cy="109728"/>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0"/>
            <a:ext cx="9144000" cy="548640"/>
          </a:xfrm>
          <a:prstGeom prst="rect">
            <a:avLst/>
          </a:prstGeom>
          <a:noFill/>
        </p:spPr>
        <p:txBody>
          <a:bodyPr wrap="square">
            <a:spAutoFit/>
          </a:bodyPr>
          <a:lstStyle/>
          <a:p>
            <a:pPr algn="l"/>
            <a:r>
              <a:rPr sz="2400" b="1" i="0">
                <a:solidFill>
                  <a:srgbClr val="FFFFFF"/>
                </a:solidFill>
              </a:rPr>
              <a:t>Next Steps</a:t>
            </a:r>
          </a:p>
        </p:txBody>
      </p:sp>
      <p:sp>
        <p:nvSpPr>
          <p:cNvPr id="4" name="TextBox 3"/>
          <p:cNvSpPr txBox="1"/>
          <p:nvPr/>
        </p:nvSpPr>
        <p:spPr>
          <a:xfrm>
            <a:off x="365760" y="914400"/>
            <a:ext cx="6858000" cy="5029200"/>
          </a:xfrm>
          <a:prstGeom prst="rect">
            <a:avLst/>
          </a:prstGeom>
          <a:noFill/>
        </p:spPr>
        <p:txBody>
          <a:bodyPr wrap="square">
            <a:spAutoFit/>
          </a:bodyPr>
          <a:lstStyle/>
          <a:p>
            <a:pPr>
              <a:spcBef>
                <a:spcPts val="400"/>
              </a:spcBef>
            </a:pPr>
            <a:r>
              <a:rPr sz="1400">
                <a:solidFill>
                  <a:srgbClr val="FFFFFF"/>
                </a:solidFill>
              </a:rPr>
              <a:t>▸  Schedule a direct meeting with both Project Managers (UniSan and Titan) within 24 hours to review their immediate action plans and discuss detailed recovery strategies.</a:t>
            </a:r>
          </a:p>
          <a:p>
            <a:pPr>
              <a:spcBef>
                <a:spcPts val="400"/>
              </a:spcBef>
            </a:pPr>
            <a:r>
              <a:rPr sz="1400">
                <a:solidFill>
                  <a:srgbClr val="FFFFFF"/>
                </a:solidFill>
              </a:rPr>
              <a:t>▸  Appoint a senior consultant to oversee the project plan audit and lead the blocker resolution task force, providing bi-weekly progress updates directly to the VP.</a:t>
            </a:r>
          </a:p>
          <a:p>
            <a:pPr>
              <a:spcBef>
                <a:spcPts val="400"/>
              </a:spcBef>
            </a:pPr>
            <a:r>
              <a:rPr sz="1400">
                <a:solidFill>
                  <a:srgbClr val="FFFFFF"/>
                </a:solidFill>
              </a:rPr>
              <a:t>▸  Request a revised, logically consistent project plan and updated RAG status for Zycus - Titan S2P Implementation by end of next week (July 18th, 2026), demonstrating corrected milestone tracking.</a:t>
            </a:r>
          </a:p>
        </p:txBody>
      </p:sp>
      <p:sp>
        <p:nvSpPr>
          <p:cNvPr id="5" name="Rectangle 4"/>
          <p:cNvSpPr/>
          <p:nvPr/>
        </p:nvSpPr>
        <p:spPr>
          <a:xfrm>
            <a:off x="8046720" y="914400"/>
            <a:ext cx="3840480" cy="2011680"/>
          </a:xfrm>
          <a:prstGeom prst="rect">
            <a:avLst/>
          </a:prstGeom>
          <a:solidFill>
            <a:srgbClr val="14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046720" y="914400"/>
            <a:ext cx="3840480" cy="109728"/>
          </a:xfrm>
          <a:prstGeom prst="rect">
            <a:avLst/>
          </a:prstGeom>
          <a:solidFill>
            <a:srgbClr val="E53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0" y="1051560"/>
            <a:ext cx="3657600" cy="411480"/>
          </a:xfrm>
          <a:prstGeom prst="rect">
            <a:avLst/>
          </a:prstGeom>
          <a:noFill/>
        </p:spPr>
        <p:txBody>
          <a:bodyPr wrap="square">
            <a:spAutoFit/>
          </a:bodyPr>
          <a:lstStyle/>
          <a:p>
            <a:pPr algn="l"/>
            <a:r>
              <a:rPr sz="1100" b="1" i="0">
                <a:solidFill>
                  <a:srgbClr val="8E99AB"/>
                </a:solidFill>
              </a:rPr>
              <a:t>Portfolio Status</a:t>
            </a:r>
          </a:p>
        </p:txBody>
      </p:sp>
      <p:sp>
        <p:nvSpPr>
          <p:cNvPr id="8" name="TextBox 7"/>
          <p:cNvSpPr txBox="1"/>
          <p:nvPr/>
        </p:nvSpPr>
        <p:spPr>
          <a:xfrm>
            <a:off x="8138160" y="1463040"/>
            <a:ext cx="3657600" cy="640080"/>
          </a:xfrm>
          <a:prstGeom prst="rect">
            <a:avLst/>
          </a:prstGeom>
          <a:noFill/>
        </p:spPr>
        <p:txBody>
          <a:bodyPr wrap="square">
            <a:spAutoFit/>
          </a:bodyPr>
          <a:lstStyle/>
          <a:p>
            <a:pPr algn="ctr"/>
            <a:r>
              <a:rPr sz="3200" b="1" i="0">
                <a:solidFill>
                  <a:srgbClr val="E53E3E"/>
                </a:solidFill>
              </a:rPr>
              <a:t>Red</a:t>
            </a:r>
          </a:p>
        </p:txBody>
      </p:sp>
      <p:sp>
        <p:nvSpPr>
          <p:cNvPr id="9" name="TextBox 8"/>
          <p:cNvSpPr txBox="1"/>
          <p:nvPr/>
        </p:nvSpPr>
        <p:spPr>
          <a:xfrm>
            <a:off x="365760" y="6400800"/>
            <a:ext cx="11430000" cy="274320"/>
          </a:xfrm>
          <a:prstGeom prst="rect">
            <a:avLst/>
          </a:prstGeom>
          <a:noFill/>
        </p:spPr>
        <p:txBody>
          <a:bodyPr wrap="square">
            <a:spAutoFit/>
          </a:bodyPr>
          <a:lstStyle/>
          <a:p>
            <a:pPr algn="ctr"/>
            <a:r>
              <a:rPr sz="900" b="0" i="1">
                <a:solidFill>
                  <a:srgbClr val="8E99AB"/>
                </a:solidFill>
              </a:rPr>
              <a:t>CONFIDENTIAL – For executive use only</a:t>
            </a:r>
          </a:p>
        </p:txBody>
      </p:sp>
      <p:sp>
        <p:nvSpPr>
          <p:cNvPr id="10" name="Rectangle 9"/>
          <p:cNvSpPr/>
          <p:nvPr/>
        </p:nvSpPr>
        <p:spPr>
          <a:xfrm>
            <a:off x="0" y="6748272"/>
            <a:ext cx="12188952" cy="109728"/>
          </a:xfrm>
          <a:prstGeom prst="rect">
            <a:avLst/>
          </a:prstGeom>
          <a:solidFill>
            <a:srgbClr val="008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